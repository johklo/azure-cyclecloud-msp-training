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72CE"/>
                </a:solidFill>
              </a:defRPr>
            </a:pPr>
            <a:r>
              <a:t>AZURE CYCLECLOUD</a:t>
            </a:r>
          </a:p>
          <a:p>
            <a:pPr>
              <a:defRPr sz="3800" b="1">
                <a:solidFill>
                  <a:srgbClr val="FFFFFF"/>
                </a:solidFill>
              </a:defRPr>
            </a:pPr>
            <a:r>
              <a:t>Cloud MSP 운영 온보딩 가이드</a:t>
            </a:r>
          </a:p>
          <a:p>
            <a:pPr>
              <a:defRPr sz="1800">
                <a:solidFill>
                  <a:srgbClr val="C8D7EB"/>
                </a:solidFill>
              </a:defRPr>
            </a:pPr>
            <a:r>
              <a:t>고객 HPC 클러스터를 대신 운영·지원하기 위해 MSP가 알아야 할 핵심</a:t>
            </a:r>
          </a:p>
          <a:p>
            <a:br/>
            <a:pPr>
              <a:defRPr sz="1400">
                <a:solidFill>
                  <a:srgbClr val="646464"/>
                </a:solidFill>
              </a:defRPr>
            </a:pPr>
            <a:r>
              <a:t>발표/지원: Azure SRE Team (이동훈, 김태진, 지민근) |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MSP 지원 범위 — 무엇을 요청받는가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고객(예: KT)이 MSP에 요청하는 CycleCloud 지원 항목과, 각 항목이 매핑되는 실습 모듈입니다.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30352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🎫 주요 지원 요청 항목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① CycleCloud 신규 생성 (서버·클러스터 구축)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② 노드 증/감설 및 노드 사이즈(VM SKU) 변경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③ Storage Account · Disk 마운트 구성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④ CycleCloud 포털 사용 방법 안내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⑤ 기본 트러블슈팅 (로그 확인 방법)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920240"/>
            <a:ext cx="5394960" cy="438912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📗 대응 실습 모듈 매핑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① → Module 03 (신규 생성/최초 구축)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② → Module 04 (노드 증감설·사이즈)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③ → Module 05 (스토리지·디스크 마운트)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④ → Module 02 (포털 사용법)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⑤ → Module 11 (트러블슈팅·로그 진단)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심화: 06 cluster-init · 07 Accounting ·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08 사용자 · 09 파티션 · 10 GPU 모니터링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책임 분담 모델 — 누가 무엇을 담당하는가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☁️ Azure (플랫폼)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IaaS 인프라 (VM/VMSS, 네트워크)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Managed 서비스 (MySQL, Lustre,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Prometheus/Grafana, Storage)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제품·패치 (PG)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GPU VM 용량(capa) 공급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072CE"/>
                </a:solidFill>
              </a:defRPr>
            </a:pPr>
            <a:r>
              <a:t>🛠️ Cloud MSP (운영·지원)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클러스터 생성·변경·삭제 대행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노드 증/감설·사이즈 변경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스토리지·디스크 마운트 구성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포털/CLI 운영 및 사용 안내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로그 확인·트러블슈팅·에스컬레이션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🏢 고객 (워크로드 소유)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HPC/AI 작업(Job) 제출·실행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애플리케이션·데이터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 요구사항 정의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용량·일정·예산 의사결정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RI 등 상용 계약 소유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MSP가 운영하는 CycleCloud 구성요소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E1E1E"/>
                </a:solidFill>
              </a:defRPr>
            </a:pPr>
            <a:r>
              <a:t>CycleCloud는 스케줄러 클러스터를 오케스트레이션하는 관리 서비스입니다. MSP는 아래 3계층을 다룹니다.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347472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① 컨트롤 플레인 (Server)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Server VM (cc-server)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웹 포털 GUI + cycle_server 서비스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CLI 설치 위치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Managed Identity 로 노드 프로비저닝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로그·상태 확인의 시작점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920240"/>
            <a:ext cx="347472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② 스케줄러 &amp; 계산 노드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스케줄러 노드 (Slurm Master)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slurmctld, azslurm CLI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실행(Execute) 노드 = VMSS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Job 수요 시 자동 증설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유휴 시 자동 감설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566160" cy="438912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③ 스토리지 &amp; Locker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Blob Storage (Locker)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템플릿·cluster-init 스크립트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공유 마운트 (NFS / Blob NFS)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Managed Lustre (고성능)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노드 OS Disk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운영 인터페이스 &amp; 서버 접근 방법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🖥️ 웹 포털 (GUI)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https://&lt;server-ip&gt; 접속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클러스터 생성/Edit/Start/Terminate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노드 상태·Autoscale 설정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Users·Accounting·Monitoring 탭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일상 운영의 기본 도구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⌨️ CLI (cyclecloud · azslurm)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cc-server / 스케줄러 노드에 설치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show_cluster / show_nodes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cyclecloud start / terminate_cluster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resume / suspend / scale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자동화·정밀 제어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🔑 SSH 키 없는 접근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Portal → cc-server →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'명령 실행(Run Command)'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 vm run-command invoke ...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Azure RBAC 권한만으로 로그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키 분실·부재 시에도 진단 가능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핵심 운영 작업 ① 클러스터 생성 &amp; 노드 증/감설·사이즈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🚀 신규 생성 (Module 03)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1. Locker용 Managed Identity·Storage 준비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2. Marketplace 이미지로 CycleCloud VM 배포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3. 설정 마법사: Site·License·관리자·구독 등록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(VM 시스템 ID에 Contributor +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 Storage Blob Data Contributor 부여)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4. Slurm 템플릿으로 클러스터 생성 &amp; Start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Off→Acquiring→Preparing→Ready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📐 노드 증/감설·사이즈 (Module 04)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증/감설: Autoscale Max Cores 조정 또는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azslurm resume/suspend 로 수동 제어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사이즈 변경: 템플릿 VM SKU 변경 →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import_cluster --force → azslurm scale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scale : 재시작 없이 변경 반영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⚠️ 수동 azure.conf 편집은 scale 시 되돌아감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⚠️ 노드 재시작/재생성은 최소화 (다음 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핵심 운영 작업 ② 스토리지 마운트 &amp; 사용자 관리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💾 스토리지·디스크 마운트 (Module 05)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공유 마운트 유형: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Blob Storage NFS (데이터)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Azure Files (홈/공유)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- Azure Managed Lustre (고성능 병렬)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노드 OS Disk 크기 조정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⚠️ BootDiskSize 변경 시 노드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  Terminate/Start 필요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마운트는 cluster-init 스크립트로 표준화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👤 사용자 관리 (Module 08)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지원 방식: Built-in / AD / LDAP / Entra ID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(KT는 Built-in 사용 중)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포털 Users 탭에서 계정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Keypair(pem) 등록으로 노드 SSH 접근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Users 추가 시 jetpack 이 노드 OS 계정 생성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sudo 필요 시 sudoers 반영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반드시 알아야 할 운영 주의사항 (KT 환경)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11094415" cy="192024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F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E35521"/>
                </a:solidFill>
              </a:defRPr>
            </a:pPr>
            <a:r>
              <a:t>⚠️ [최우선] 노드 재시작 최소화 원칙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GPU VM 용량(capa) 부족으로 재시작/재생성 시 재할당(Acquiring)이 실패할 수 있음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KT GPU VM은 Reserved Instance(RI) 적용 → 의도치 않은 Scale-in 방지 필요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조치: 재시작 불가피 시 반드시 Azure Capa 팀과 사전 일정 조율 후 진행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383280"/>
            <a:ext cx="5303520" cy="292608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🛡️ Scale-in 방지 설정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Slurm 기본 Suspend time 300초(유휴 자동 감설)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UI 'keep_alive' 옵션 오작동 사례 존재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해결: slurm.conf 에 SuspendExcParts=hpc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 스크립트로 적용되어 있음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383280"/>
            <a:ext cx="5394960" cy="2926080"/>
          </a:xfrm>
          <a:prstGeom prst="roundRect">
            <a:avLst/>
          </a:prstGeom>
          <a:solidFill>
            <a:srgbClr val="FEF3EB"/>
          </a:solidFill>
          <a:ln w="19050">
            <a:solidFill>
              <a:srgbClr val="F09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E35521"/>
                </a:solidFill>
              </a:defRPr>
            </a:pPr>
            <a:r>
              <a:t>🔁 cloud-init 금지 · cluster-init 사용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cloud-init 수정 시 노드 할당 실패: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'does not match ... attribute: CloudInit'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→ 전체 클러스터 재기동 필요 (위험)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cluster-init(converge)로 재부팅 없이 반영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Locker에 4~5개 스크립트(scale-in·드라이버·마운트)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트러블슈팅 &amp; 로그 진단 체계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🔎 3단계 Triage 순서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① 포털 문제 노드의 Status 메시지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② 서버 로그 검색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/opt/cycle_server/logs/cycle_server.log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③ 노드 내부 로그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 jetpack.log / cloud-init-output.log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인프라 진단: az vm / vmss 상태, NSG, 쿼터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🧰 자주 쓰는 진단 도구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sinfo -R : DRAIN/DOWN 노드 사유 확인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azslurm retry_failed_nodes : 실패 노드 재시도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systemctl restart slurmd : 좀비 노드 복구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/opt/cycle/capture_logs.sh : 지원용 로그 번들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healthagent : 불량 노드 자동 DRAIN(60s)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상세 절차는 Module 11 참조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Microsoft 에스컬레이션 &amp; 필수 버전 정보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53035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📌 지원 시 필수 3종 버전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① CycleCloud 버전 (UI 우측 상단 '?')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② Slurm 버전 (Cluster Edit &gt; Advanced)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③ jetpack(slurm) 프로젝트 버전 (노드 CLI)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버그/호환성/미지원 여부 판별의 첫 좌표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→ 재현 환경 구성·업그레이드 경로 산정에 필수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280160"/>
            <a:ext cx="53949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🗂️ KT 클러스터 버전 현황(참고)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Mexico Central: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CycleCloud 8.9.0-3754 / Slurm 25.11.4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jetpack slurm 4.0.8 · 학습128 + GPU4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Korea Central: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CycleCloud 8.7.3-3438 / Slurm 23.11.19-1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jetpack slurm 3.0.12 · 학습6 + GPU1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※ 시점에 따라 변동 — 지원 전 재확인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137160"/>
          <a:lstStyle/>
          <a:p>
            <a:pPr algn="ctr">
              <a:defRPr sz="1000" b="1">
                <a:solidFill>
                  <a:srgbClr val="0072CE"/>
                </a:solidFill>
              </a:defRPr>
            </a:pPr>
            <a:r>
              <a:t>AZURE CYCLECLOUD | CLOUD MSP 운영 온보딩 (OPERATIONS ONBOARDING)</a:t>
            </a:r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t>MSP 온보딩 로드맵 &amp; 실습 매뉴얼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📚 기본 (01~05)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01. 환경 개요·아키텍처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02. 포털 사용 방법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03. 신규 생성·최초 구축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04. 노드 증/감설·사이즈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05. 스토리지·디스크 마운트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280160"/>
            <a:ext cx="3474720" cy="502920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C8D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0F2240"/>
                </a:solidFill>
              </a:defRPr>
            </a:pPr>
            <a:r>
              <a:t>🚀 심화 (06~10)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06. cluster-init·커스텀 스크립트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07. Slurm Job Accounting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08. 사용자·키페어 관리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09. 파티션 관리·추가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10. GPU 모니터링 구축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280160"/>
            <a:ext cx="3566160" cy="5029200"/>
          </a:xfrm>
          <a:prstGeom prst="roundRect">
            <a:avLst/>
          </a:prstGeom>
          <a:solidFill>
            <a:srgbClr val="E9F5EC"/>
          </a:solidFill>
          <a:ln w="19050">
            <a:solidFill>
              <a:srgbClr val="9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defRPr sz="1600" b="1">
                <a:solidFill>
                  <a:srgbClr val="1E783C"/>
                </a:solidFill>
              </a:defRPr>
            </a:pPr>
            <a:r>
              <a:t>🔧 운용·런북 (11~12)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11. 트러블슈팅·로그 진단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12. 데모 런북(진행 체크리스트)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• 권장 순서: 매뉴얼 정독 →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실습 환경에서 01~12 핸즈온 →</a:t>
            </a:r>
          </a:p>
          <a:p>
            <a:pPr>
              <a:spcBef>
                <a:spcPts val="400"/>
              </a:spcBef>
              <a:defRPr sz="1200">
                <a:solidFill>
                  <a:srgbClr val="1E1E1E"/>
                </a:solidFill>
              </a:defRPr>
            </a:pPr>
            <a:r>
              <a:t>  지원 시나리오별 대응 숙달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46464"/>
                </a:solidFill>
              </a:defRPr>
            </a:pPr>
            <a:r>
              <a:t>상세 절차: 'Azure CycleCloud MSP 운영 매뉴얼(docs/ 12개 모듈)' 참조.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