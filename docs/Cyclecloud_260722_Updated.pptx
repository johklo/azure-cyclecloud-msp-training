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F2240"/>
          </a:solidFill>
          <a:ln>
            <a:solidFill>
              <a:srgbClr val="0F224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914400" y="1828800"/>
            <a:ext cx="10362895" cy="3657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800" b="1">
                <a:solidFill>
                  <a:srgbClr val="0072CE"/>
                </a:solidFill>
              </a:defRPr>
            </a:pPr>
            <a:r>
              <a:t>AZURE CYCLECLOUD</a:t>
            </a:r>
          </a:p>
          <a:p>
            <a:pPr>
              <a:defRPr sz="3800" b="1">
                <a:solidFill>
                  <a:srgbClr val="FFFFFF"/>
                </a:solidFill>
              </a:defRPr>
            </a:pPr>
            <a:r>
              <a:t>MSP 운영 교육 &amp; KT 현황 브리핑</a:t>
            </a:r>
          </a:p>
          <a:p>
            <a:pPr>
              <a:defRPr sz="1800">
                <a:solidFill>
                  <a:srgbClr val="C8D7EB"/>
                </a:solidFill>
              </a:defRPr>
            </a:pPr>
            <a:r>
              <a:t>최초 사이트/클러스터 구축, 오케스트레이션, 실습 및 KT 환경 지침</a:t>
            </a:r>
          </a:p>
          <a:p>
            <a:br/>
            <a:pPr>
              <a:defRPr sz="1400">
                <a:solidFill>
                  <a:srgbClr val="646464"/>
                </a:solidFill>
              </a:defRPr>
            </a:pPr>
            <a:r>
              <a:t>발표/지원: Azure SRE Team (이동훈, 김태진, 지민근) | 2026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5F7FA"/>
          </a:solidFill>
          <a:ln>
            <a:solidFill>
              <a:srgbClr val="F5F7F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005840"/>
          </a:xfrm>
          <a:prstGeom prst="rect">
            <a:avLst/>
          </a:prstGeom>
          <a:solidFill>
            <a:srgbClr val="0F2240"/>
          </a:solidFill>
          <a:ln>
            <a:solidFill>
              <a:srgbClr val="0F224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0" tIns="137160"/>
          <a:lstStyle/>
          <a:p>
            <a:pPr algn="ctr">
              <a:defRPr sz="1000" b="1">
                <a:solidFill>
                  <a:srgbClr val="0072CE"/>
                </a:solidFill>
              </a:defRPr>
            </a:pPr>
            <a:r>
              <a:t>AZURE CYCLECLOUD MSP TRAINING &amp; KT STATUS</a:t>
            </a:r>
          </a:p>
          <a:p>
            <a:pPr>
              <a:defRPr sz="2200" b="1">
                <a:solidFill>
                  <a:srgbClr val="FFFFFF"/>
                </a:solidFill>
              </a:defRPr>
            </a:pPr>
            <a:r>
              <a:t>교육 목표 및 커리큘럼 (Agenda)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548640" y="1280160"/>
            <a:ext cx="5303520" cy="5029200"/>
          </a:xfrm>
          <a:prstGeom prst="roundRect">
            <a:avLst/>
          </a:prstGeom>
          <a:solidFill>
            <a:srgbClr val="EBF0F8"/>
          </a:solidFill>
          <a:ln w="19050">
            <a:solidFill>
              <a:srgbClr val="C8D7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0" rIns="228600" tIns="182880" bIns="182880"/>
          <a:lstStyle/>
          <a:p>
            <a:pPr algn="ctr">
              <a:defRPr sz="1600" b="1">
                <a:solidFill>
                  <a:srgbClr val="0F2240"/>
                </a:solidFill>
              </a:defRPr>
            </a:pPr>
            <a:r>
              <a:t>🎯 교육 목표 (Training Objectives)</a:t>
            </a:r>
          </a:p>
          <a:p>
            <a:pPr>
              <a:spcBef>
                <a:spcPts val="400"/>
              </a:spcBef>
              <a:defRPr sz="1200">
                <a:solidFill>
                  <a:srgbClr val="1E1E1E"/>
                </a:solidFill>
              </a:defRPr>
            </a:pPr>
            <a:r>
              <a:t>• Azure CycleCloud 최초 포털 및 클러스터 구축 절차 마스터</a:t>
            </a:r>
          </a:p>
          <a:p>
            <a:pPr>
              <a:spcBef>
                <a:spcPts val="400"/>
              </a:spcBef>
              <a:defRPr sz="1200">
                <a:solidFill>
                  <a:srgbClr val="1E1E1E"/>
                </a:solidFill>
              </a:defRPr>
            </a:pPr>
            <a:r>
              <a:t>• 웹 포털 및 CLI(cyclecloud/azslurm)를 통한 클러스터 제어 습득</a:t>
            </a:r>
          </a:p>
          <a:p>
            <a:pPr>
              <a:spcBef>
                <a:spcPts val="400"/>
              </a:spcBef>
              <a:defRPr sz="1200">
                <a:solidFill>
                  <a:srgbClr val="1E1E1E"/>
                </a:solidFill>
              </a:defRPr>
            </a:pPr>
            <a:r>
              <a:t>• KT CycleCloud 운영 특이사항 및 제약 조건 파악</a:t>
            </a:r>
          </a:p>
          <a:p>
            <a:pPr>
              <a:spcBef>
                <a:spcPts val="400"/>
              </a:spcBef>
              <a:defRPr sz="1200">
                <a:solidFill>
                  <a:srgbClr val="1E1E1E"/>
                </a:solidFill>
              </a:defRPr>
            </a:pPr>
            <a:r>
              <a:t>  - RI 적용 GPU VM scale-in 방지 및 노드 재시작 최소화</a:t>
            </a:r>
          </a:p>
          <a:p>
            <a:pPr>
              <a:spcBef>
                <a:spcPts val="400"/>
              </a:spcBef>
              <a:defRPr sz="1200">
                <a:solidFill>
                  <a:srgbClr val="1E1E1E"/>
                </a:solidFill>
              </a:defRPr>
            </a:pPr>
            <a:r>
              <a:t>  - cloud-init vs cluster-init 구성 지침</a:t>
            </a:r>
          </a:p>
          <a:p>
            <a:pPr>
              <a:spcBef>
                <a:spcPts val="400"/>
              </a:spcBef>
              <a:defRPr sz="1200">
                <a:solidFill>
                  <a:srgbClr val="1E1E1E"/>
                </a:solidFill>
              </a:defRPr>
            </a:pPr>
            <a:r>
              <a:t>  - Slurm Job Accounting (MySQL Flexible Server)</a:t>
            </a:r>
          </a:p>
          <a:p>
            <a:pPr>
              <a:spcBef>
                <a:spcPts val="400"/>
              </a:spcBef>
              <a:defRPr sz="1200">
                <a:solidFill>
                  <a:srgbClr val="1E1E1E"/>
                </a:solidFill>
              </a:defRPr>
            </a:pPr>
            <a:r>
              <a:t>  - Managed Prometheus + Grafana GPU 모니터링</a:t>
            </a:r>
          </a:p>
          <a:p>
            <a:pPr>
              <a:spcBef>
                <a:spcPts val="400"/>
              </a:spcBef>
              <a:defRPr sz="1200">
                <a:solidFill>
                  <a:srgbClr val="1E1E1E"/>
                </a:solidFill>
              </a:defRPr>
            </a:pPr>
            <a:r>
              <a:t>• 실습 환경(Bicep IaC) 기반 MSP 전용 운영/트러블슈팅 역량 확보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6217920" y="1280160"/>
            <a:ext cx="5394960" cy="5029200"/>
          </a:xfrm>
          <a:prstGeom prst="roundRect">
            <a:avLst/>
          </a:prstGeom>
          <a:solidFill>
            <a:srgbClr val="EBF0F8"/>
          </a:solidFill>
          <a:ln w="19050">
            <a:solidFill>
              <a:srgbClr val="C8D7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0" rIns="228600" tIns="182880" bIns="182880"/>
          <a:lstStyle/>
          <a:p>
            <a:pPr algn="ctr">
              <a:defRPr sz="1600" b="1">
                <a:solidFill>
                  <a:srgbClr val="0F2240"/>
                </a:solidFill>
              </a:defRPr>
            </a:pPr>
            <a:r>
              <a:t>📋 교육 아젠다 (Agenda)</a:t>
            </a:r>
          </a:p>
          <a:p>
            <a:pPr>
              <a:spcBef>
                <a:spcPts val="400"/>
              </a:spcBef>
              <a:defRPr sz="1200">
                <a:solidFill>
                  <a:srgbClr val="1E1E1E"/>
                </a:solidFill>
              </a:defRPr>
            </a:pPr>
            <a:r>
              <a:t>• 1부. Azure CycleCloud &amp; Slurm 개요</a:t>
            </a:r>
          </a:p>
          <a:p>
            <a:pPr>
              <a:spcBef>
                <a:spcPts val="400"/>
              </a:spcBef>
              <a:defRPr sz="1200">
                <a:solidFill>
                  <a:srgbClr val="1E1E1E"/>
                </a:solidFill>
              </a:defRPr>
            </a:pPr>
            <a:r>
              <a:t>  - 개념, 아키텍처, 최초 클러스터 구축 및 Slurm CLI</a:t>
            </a:r>
          </a:p>
          <a:p>
            <a:pPr>
              <a:spcBef>
                <a:spcPts val="400"/>
              </a:spcBef>
              <a:defRPr sz="1200">
                <a:solidFill>
                  <a:srgbClr val="1E1E1E"/>
                </a:solidFill>
              </a:defRPr>
            </a:pPr>
            <a:r>
              <a:t>• 2부. KT CycleCloud 구축 현황 &amp; 핵심 운영 지침</a:t>
            </a:r>
          </a:p>
          <a:p>
            <a:pPr>
              <a:spcBef>
                <a:spcPts val="400"/>
              </a:spcBef>
              <a:defRPr sz="1200">
                <a:solidFill>
                  <a:srgbClr val="1E1E1E"/>
                </a:solidFill>
              </a:defRPr>
            </a:pPr>
            <a:r>
              <a:t>  - Mexico 리전 이관 현황, 버전 체계, CLI 서버 접속</a:t>
            </a:r>
          </a:p>
          <a:p>
            <a:pPr>
              <a:spcBef>
                <a:spcPts val="400"/>
              </a:spcBef>
              <a:defRPr sz="1200">
                <a:solidFill>
                  <a:srgbClr val="1E1E1E"/>
                </a:solidFill>
              </a:defRPr>
            </a:pPr>
            <a:r>
              <a:t>  - GPU VM RI 규정, cluster-init, Job Accounting</a:t>
            </a:r>
          </a:p>
          <a:p>
            <a:pPr>
              <a:spcBef>
                <a:spcPts val="400"/>
              </a:spcBef>
              <a:defRPr sz="1200">
                <a:solidFill>
                  <a:srgbClr val="1E1E1E"/>
                </a:solidFill>
              </a:defRPr>
            </a:pPr>
            <a:r>
              <a:t>  - 사용자 관리, 스토리지 마운트, GPU 모니터링</a:t>
            </a:r>
          </a:p>
          <a:p>
            <a:pPr>
              <a:spcBef>
                <a:spcPts val="400"/>
              </a:spcBef>
              <a:defRPr sz="1200">
                <a:solidFill>
                  <a:srgbClr val="1E1E1E"/>
                </a:solidFill>
              </a:defRPr>
            </a:pPr>
            <a:r>
              <a:t>• 3부. MSP 핸즈온 실습 런북 (Lab Guide)</a:t>
            </a:r>
          </a:p>
          <a:p>
            <a:pPr>
              <a:spcBef>
                <a:spcPts val="400"/>
              </a:spcBef>
              <a:defRPr sz="1200">
                <a:solidFill>
                  <a:srgbClr val="1E1E1E"/>
                </a:solidFill>
              </a:defRPr>
            </a:pPr>
            <a:r>
              <a:t>  - 12개 실습 모듈 및 트러블슈팅 로그 진단 절차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5F7FA"/>
          </a:solidFill>
          <a:ln>
            <a:solidFill>
              <a:srgbClr val="F5F7F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005840"/>
          </a:xfrm>
          <a:prstGeom prst="rect">
            <a:avLst/>
          </a:prstGeom>
          <a:solidFill>
            <a:srgbClr val="0F2240"/>
          </a:solidFill>
          <a:ln>
            <a:solidFill>
              <a:srgbClr val="0F224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0" tIns="137160"/>
          <a:lstStyle/>
          <a:p>
            <a:pPr algn="ctr">
              <a:defRPr sz="1000" b="1">
                <a:solidFill>
                  <a:srgbClr val="0072CE"/>
                </a:solidFill>
              </a:defRPr>
            </a:pPr>
            <a:r>
              <a:t>AZURE CYCLECLOUD MSP TRAINING &amp; KT STATUS</a:t>
            </a:r>
          </a:p>
          <a:p>
            <a:pPr>
              <a:defRPr sz="2200" b="1">
                <a:solidFill>
                  <a:srgbClr val="FFFFFF"/>
                </a:solidFill>
              </a:defRPr>
            </a:pPr>
            <a:r>
              <a:t>1부. CycleCloud &amp; Slurm 구성 아키텍처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548640" y="1280160"/>
            <a:ext cx="3474720" cy="5029200"/>
          </a:xfrm>
          <a:prstGeom prst="roundRect">
            <a:avLst/>
          </a:prstGeom>
          <a:solidFill>
            <a:srgbClr val="EBF0F8"/>
          </a:solidFill>
          <a:ln w="19050">
            <a:solidFill>
              <a:srgbClr val="C8D7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0" rIns="228600" tIns="182880" bIns="182880"/>
          <a:lstStyle/>
          <a:p>
            <a:pPr algn="ctr">
              <a:defRPr sz="1600" b="1">
                <a:solidFill>
                  <a:srgbClr val="0F2240"/>
                </a:solidFill>
              </a:defRPr>
            </a:pPr>
            <a:r>
              <a:t>① Control Plane (Server)</a:t>
            </a:r>
          </a:p>
          <a:p>
            <a:pPr>
              <a:spcBef>
                <a:spcPts val="400"/>
              </a:spcBef>
              <a:defRPr sz="1200">
                <a:solidFill>
                  <a:srgbClr val="1E1E1E"/>
                </a:solidFill>
              </a:defRPr>
            </a:pPr>
            <a:r>
              <a:t>• CycleCloud Server VM (cc-server)</a:t>
            </a:r>
          </a:p>
          <a:p>
            <a:pPr>
              <a:spcBef>
                <a:spcPts val="400"/>
              </a:spcBef>
              <a:defRPr sz="1200">
                <a:solidFill>
                  <a:srgbClr val="1E1E1E"/>
                </a:solidFill>
              </a:defRPr>
            </a:pPr>
            <a:r>
              <a:t>• 웹 포털 GUI (HTTPS 443)</a:t>
            </a:r>
          </a:p>
          <a:p>
            <a:pPr>
              <a:spcBef>
                <a:spcPts val="400"/>
              </a:spcBef>
              <a:defRPr sz="1200">
                <a:solidFill>
                  <a:srgbClr val="1E1E1E"/>
                </a:solidFill>
              </a:defRPr>
            </a:pPr>
            <a:r>
              <a:t>• cycle_server 서비스 &amp; CLI</a:t>
            </a:r>
          </a:p>
          <a:p>
            <a:pPr>
              <a:spcBef>
                <a:spcPts val="400"/>
              </a:spcBef>
              <a:defRPr sz="1200">
                <a:solidFill>
                  <a:srgbClr val="1E1E1E"/>
                </a:solidFill>
              </a:defRPr>
            </a:pPr>
            <a:r>
              <a:t>• System-assigned Managed Identity</a:t>
            </a:r>
          </a:p>
          <a:p>
            <a:pPr>
              <a:spcBef>
                <a:spcPts val="400"/>
              </a:spcBef>
              <a:defRPr sz="1200">
                <a:solidFill>
                  <a:srgbClr val="1E1E1E"/>
                </a:solidFill>
              </a:defRPr>
            </a:pPr>
            <a:r>
              <a:t>  - 구독 Contributor 권한 부여</a:t>
            </a:r>
          </a:p>
          <a:p>
            <a:pPr>
              <a:spcBef>
                <a:spcPts val="400"/>
              </a:spcBef>
              <a:defRPr sz="1200">
                <a:solidFill>
                  <a:srgbClr val="1E1E1E"/>
                </a:solidFill>
              </a:defRPr>
            </a:pPr>
            <a:r>
              <a:t>  - 자격증명/암호 없이 노드 프로비저닝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4297680" y="1280160"/>
            <a:ext cx="3474720" cy="5029200"/>
          </a:xfrm>
          <a:prstGeom prst="roundRect">
            <a:avLst/>
          </a:prstGeom>
          <a:solidFill>
            <a:srgbClr val="EBF0F8"/>
          </a:solidFill>
          <a:ln w="19050">
            <a:solidFill>
              <a:srgbClr val="C8D7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0" rIns="228600" tIns="182880" bIns="182880"/>
          <a:lstStyle/>
          <a:p>
            <a:pPr algn="ctr">
              <a:defRPr sz="1600" b="1">
                <a:solidFill>
                  <a:srgbClr val="0F2240"/>
                </a:solidFill>
              </a:defRPr>
            </a:pPr>
            <a:r>
              <a:t>② Scheduler &amp; Compute Nodes</a:t>
            </a:r>
          </a:p>
          <a:p>
            <a:pPr>
              <a:spcBef>
                <a:spcPts val="400"/>
              </a:spcBef>
              <a:defRPr sz="1200">
                <a:solidFill>
                  <a:srgbClr val="1E1E1E"/>
                </a:solidFill>
              </a:defRPr>
            </a:pPr>
            <a:r>
              <a:t>• Slurm Master (Scheduler 노드)</a:t>
            </a:r>
          </a:p>
          <a:p>
            <a:pPr>
              <a:spcBef>
                <a:spcPts val="400"/>
              </a:spcBef>
              <a:defRPr sz="1200">
                <a:solidFill>
                  <a:srgbClr val="1E1E1E"/>
                </a:solidFill>
              </a:defRPr>
            </a:pPr>
            <a:r>
              <a:t>  - 워크로드 스케줄링 &amp; 자원 할당</a:t>
            </a:r>
          </a:p>
          <a:p>
            <a:pPr>
              <a:spcBef>
                <a:spcPts val="400"/>
              </a:spcBef>
              <a:defRPr sz="1200">
                <a:solidFill>
                  <a:srgbClr val="1E1E1E"/>
                </a:solidFill>
              </a:defRPr>
            </a:pPr>
            <a:r>
              <a:t>  - Slurmctld 데몬 기동</a:t>
            </a:r>
          </a:p>
          <a:p>
            <a:pPr>
              <a:spcBef>
                <a:spcPts val="400"/>
              </a:spcBef>
              <a:defRPr sz="1200">
                <a:solidFill>
                  <a:srgbClr val="1E1E1E"/>
                </a:solidFill>
              </a:defRPr>
            </a:pPr>
            <a:r>
              <a:t>• Execute (Worker) 노드</a:t>
            </a:r>
          </a:p>
          <a:p>
            <a:pPr>
              <a:spcBef>
                <a:spcPts val="400"/>
              </a:spcBef>
              <a:defRPr sz="1200">
                <a:solidFill>
                  <a:srgbClr val="1E1E1E"/>
                </a:solidFill>
              </a:defRPr>
            </a:pPr>
            <a:r>
              <a:t>  - VMSS 기반 필요 시 자동 생성</a:t>
            </a:r>
          </a:p>
          <a:p>
            <a:pPr>
              <a:spcBef>
                <a:spcPts val="400"/>
              </a:spcBef>
              <a:defRPr sz="1200">
                <a:solidFill>
                  <a:srgbClr val="1E1E1E"/>
                </a:solidFill>
              </a:defRPr>
            </a:pPr>
            <a:r>
              <a:t>  - Job 완료 후 유휴 시 자동 감설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8046720" y="1280160"/>
            <a:ext cx="3566160" cy="5029200"/>
          </a:xfrm>
          <a:prstGeom prst="roundRect">
            <a:avLst/>
          </a:prstGeom>
          <a:solidFill>
            <a:srgbClr val="EBF0F8"/>
          </a:solidFill>
          <a:ln w="19050">
            <a:solidFill>
              <a:srgbClr val="C8D7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0" rIns="228600" tIns="182880" bIns="182880"/>
          <a:lstStyle/>
          <a:p>
            <a:pPr algn="ctr">
              <a:defRPr sz="1600" b="1">
                <a:solidFill>
                  <a:srgbClr val="0F2240"/>
                </a:solidFill>
              </a:defRPr>
            </a:pPr>
            <a:r>
              <a:t>③ Storage &amp; Locker</a:t>
            </a:r>
          </a:p>
          <a:p>
            <a:pPr>
              <a:spcBef>
                <a:spcPts val="400"/>
              </a:spcBef>
              <a:defRPr sz="1200">
                <a:solidFill>
                  <a:srgbClr val="1E1E1E"/>
                </a:solidFill>
              </a:defRPr>
            </a:pPr>
            <a:r>
              <a:t>• /shared, /sched (NFS)</a:t>
            </a:r>
          </a:p>
          <a:p>
            <a:pPr>
              <a:spcBef>
                <a:spcPts val="400"/>
              </a:spcBef>
              <a:defRPr sz="1200">
                <a:solidFill>
                  <a:srgbClr val="1E1E1E"/>
                </a:solidFill>
              </a:defRPr>
            </a:pPr>
            <a:r>
              <a:t>  - 모든 노드 공용 공유 저장소</a:t>
            </a:r>
          </a:p>
          <a:p>
            <a:pPr>
              <a:spcBef>
                <a:spcPts val="400"/>
              </a:spcBef>
              <a:defRPr sz="1200">
                <a:solidFill>
                  <a:srgbClr val="1E1E1E"/>
                </a:solidFill>
              </a:defRPr>
            </a:pPr>
            <a:r>
              <a:t>  - Slurm 메타데이터 및 스케줄러 설정</a:t>
            </a:r>
          </a:p>
          <a:p>
            <a:pPr>
              <a:spcBef>
                <a:spcPts val="400"/>
              </a:spcBef>
              <a:defRPr sz="1200">
                <a:solidFill>
                  <a:srgbClr val="1E1E1E"/>
                </a:solidFill>
              </a:defRPr>
            </a:pPr>
            <a:r>
              <a:t>• Blob Storage (Locker)</a:t>
            </a:r>
          </a:p>
          <a:p>
            <a:pPr>
              <a:spcBef>
                <a:spcPts val="400"/>
              </a:spcBef>
              <a:defRPr sz="1200">
                <a:solidFill>
                  <a:srgbClr val="1E1E1E"/>
                </a:solidFill>
              </a:defRPr>
            </a:pPr>
            <a:r>
              <a:t>  - 스토리지 계정 (cclkekwphusd3i)</a:t>
            </a:r>
          </a:p>
          <a:p>
            <a:pPr>
              <a:spcBef>
                <a:spcPts val="400"/>
              </a:spcBef>
              <a:defRPr sz="1200">
                <a:solidFill>
                  <a:srgbClr val="1E1E1E"/>
                </a:solidFill>
              </a:defRPr>
            </a:pPr>
            <a:r>
              <a:t>  - cluster-init 프로젝트, 템플릿 보관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5F7FA"/>
          </a:solidFill>
          <a:ln>
            <a:solidFill>
              <a:srgbClr val="F5F7F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005840"/>
          </a:xfrm>
          <a:prstGeom prst="rect">
            <a:avLst/>
          </a:prstGeom>
          <a:solidFill>
            <a:srgbClr val="0F2240"/>
          </a:solidFill>
          <a:ln>
            <a:solidFill>
              <a:srgbClr val="0F224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0" tIns="137160"/>
          <a:lstStyle/>
          <a:p>
            <a:pPr algn="ctr">
              <a:defRPr sz="1000" b="1">
                <a:solidFill>
                  <a:srgbClr val="0072CE"/>
                </a:solidFill>
              </a:defRPr>
            </a:pPr>
            <a:r>
              <a:t>AZURE CYCLECLOUD MSP TRAINING &amp; KT STATUS</a:t>
            </a:r>
          </a:p>
          <a:p>
            <a:pPr>
              <a:defRPr sz="2200" b="1">
                <a:solidFill>
                  <a:srgbClr val="FFFFFF"/>
                </a:solidFill>
              </a:defRPr>
            </a:pPr>
            <a:r>
              <a:t>1부. 최초 클러스터 구축 단계별 가이드 (First-Time Setup)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548640" y="1280160"/>
            <a:ext cx="3474720" cy="5029200"/>
          </a:xfrm>
          <a:prstGeom prst="roundRect">
            <a:avLst/>
          </a:prstGeom>
          <a:solidFill>
            <a:srgbClr val="EBF0F8"/>
          </a:solidFill>
          <a:ln w="19050">
            <a:solidFill>
              <a:srgbClr val="C8D7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0" rIns="228600" tIns="182880" bIns="182880"/>
          <a:lstStyle/>
          <a:p>
            <a:pPr algn="ctr">
              <a:defRPr sz="1600" b="1">
                <a:solidFill>
                  <a:srgbClr val="0F2240"/>
                </a:solidFill>
              </a:defRPr>
            </a:pPr>
            <a:r>
              <a:t>1단계: Site 초기화 (Wizard)</a:t>
            </a:r>
          </a:p>
          <a:p>
            <a:pPr>
              <a:spcBef>
                <a:spcPts val="400"/>
              </a:spcBef>
              <a:defRPr sz="1200">
                <a:solidFill>
                  <a:srgbClr val="1E1E1E"/>
                </a:solidFill>
              </a:defRPr>
            </a:pPr>
            <a:r>
              <a:t>• 1. 포털 접속: https://&lt;server-ip&gt;</a:t>
            </a:r>
          </a:p>
          <a:p>
            <a:pPr>
              <a:spcBef>
                <a:spcPts val="400"/>
              </a:spcBef>
              <a:defRPr sz="1200">
                <a:solidFill>
                  <a:srgbClr val="1E1E1E"/>
                </a:solidFill>
              </a:defRPr>
            </a:pPr>
            <a:r>
              <a:t>• 2. 약관 동의 &amp; 관리자 계정 생성</a:t>
            </a:r>
          </a:p>
          <a:p>
            <a:pPr>
              <a:spcBef>
                <a:spcPts val="400"/>
              </a:spcBef>
              <a:defRPr sz="1200">
                <a:solidFill>
                  <a:srgbClr val="1E1E1E"/>
                </a:solidFill>
              </a:defRPr>
            </a:pPr>
            <a:r>
              <a:t>• 3. Azure 구독 (Credential) 등록:</a:t>
            </a:r>
          </a:p>
          <a:p>
            <a:pPr>
              <a:spcBef>
                <a:spcPts val="400"/>
              </a:spcBef>
              <a:defRPr sz="1200">
                <a:solidFill>
                  <a:srgbClr val="1E1E1E"/>
                </a:solidFill>
              </a:defRPr>
            </a:pPr>
            <a:r>
              <a:t>  - Service Type: Managed Identity</a:t>
            </a:r>
          </a:p>
          <a:p>
            <a:pPr>
              <a:spcBef>
                <a:spcPts val="400"/>
              </a:spcBef>
              <a:defRPr sz="1200">
                <a:solidFill>
                  <a:srgbClr val="1E1E1E"/>
                </a:solidFill>
              </a:defRPr>
            </a:pPr>
            <a:r>
              <a:t>  - Subscription ID 입력</a:t>
            </a:r>
          </a:p>
          <a:p>
            <a:pPr>
              <a:spcBef>
                <a:spcPts val="400"/>
              </a:spcBef>
              <a:defRPr sz="1200">
                <a:solidFill>
                  <a:srgbClr val="1E1E1E"/>
                </a:solidFill>
              </a:defRPr>
            </a:pPr>
            <a:r>
              <a:t>  - Default Region: Korea Central</a:t>
            </a:r>
          </a:p>
          <a:p>
            <a:pPr>
              <a:spcBef>
                <a:spcPts val="400"/>
              </a:spcBef>
              <a:defRPr sz="1200">
                <a:solidFill>
                  <a:srgbClr val="1E1E1E"/>
                </a:solidFill>
              </a:defRPr>
            </a:pPr>
            <a:r>
              <a:t>  - Resource Group: rg-cyclecloud-training</a:t>
            </a:r>
          </a:p>
          <a:p>
            <a:pPr>
              <a:spcBef>
                <a:spcPts val="400"/>
              </a:spcBef>
              <a:defRPr sz="1200">
                <a:solidFill>
                  <a:srgbClr val="1E1E1E"/>
                </a:solidFill>
              </a:defRPr>
            </a:pPr>
            <a:r>
              <a:t>  - Locker: cclkekwphusd3i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4297680" y="1280160"/>
            <a:ext cx="3474720" cy="5029200"/>
          </a:xfrm>
          <a:prstGeom prst="roundRect">
            <a:avLst/>
          </a:prstGeom>
          <a:solidFill>
            <a:srgbClr val="EBF0F8"/>
          </a:solidFill>
          <a:ln w="19050">
            <a:solidFill>
              <a:srgbClr val="C8D7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0" rIns="228600" tIns="182880" bIns="182880"/>
          <a:lstStyle/>
          <a:p>
            <a:pPr algn="ctr">
              <a:defRPr sz="1600" b="1">
                <a:solidFill>
                  <a:srgbClr val="0F2240"/>
                </a:solidFill>
              </a:defRPr>
            </a:pPr>
            <a:r>
              <a:t>2단계: Slurm 템플릿 구성</a:t>
            </a:r>
          </a:p>
          <a:p>
            <a:pPr>
              <a:spcBef>
                <a:spcPts val="400"/>
              </a:spcBef>
              <a:defRPr sz="1200">
                <a:solidFill>
                  <a:srgbClr val="1E1E1E"/>
                </a:solidFill>
              </a:defRPr>
            </a:pPr>
            <a:r>
              <a:t>• 1. Clusters &gt; '+' (New Cluster)</a:t>
            </a:r>
          </a:p>
          <a:p>
            <a:pPr>
              <a:spcBef>
                <a:spcPts val="400"/>
              </a:spcBef>
              <a:defRPr sz="1200">
                <a:solidFill>
                  <a:srgbClr val="1E1E1E"/>
                </a:solidFill>
              </a:defRPr>
            </a:pPr>
            <a:r>
              <a:t>• 2. 스케줄러 템플릿: Slurm 선택</a:t>
            </a:r>
          </a:p>
          <a:p>
            <a:pPr>
              <a:spcBef>
                <a:spcPts val="400"/>
              </a:spcBef>
              <a:defRPr sz="1200">
                <a:solidFill>
                  <a:srgbClr val="1E1E1E"/>
                </a:solidFill>
              </a:defRPr>
            </a:pPr>
            <a:r>
              <a:t>• 3. 파라미터 설정:</a:t>
            </a:r>
          </a:p>
          <a:p>
            <a:pPr>
              <a:spcBef>
                <a:spcPts val="400"/>
              </a:spcBef>
              <a:defRPr sz="1200">
                <a:solidFill>
                  <a:srgbClr val="1E1E1E"/>
                </a:solidFill>
              </a:defRPr>
            </a:pPr>
            <a:r>
              <a:t>  - Cluster Name: slurm-first-cluster</a:t>
            </a:r>
          </a:p>
          <a:p>
            <a:pPr>
              <a:spcBef>
                <a:spcPts val="400"/>
              </a:spcBef>
              <a:defRPr sz="1200">
                <a:solidFill>
                  <a:srgbClr val="1E1E1E"/>
                </a:solidFill>
              </a:defRPr>
            </a:pPr>
            <a:r>
              <a:t>  - Scheduler VM: Standard_D4s_v5</a:t>
            </a:r>
          </a:p>
          <a:p>
            <a:pPr>
              <a:spcBef>
                <a:spcPts val="400"/>
              </a:spcBef>
              <a:defRPr sz="1200">
                <a:solidFill>
                  <a:srgbClr val="1E1E1E"/>
                </a:solidFill>
              </a:defRPr>
            </a:pPr>
            <a:r>
              <a:t>  - HPC Worker VM: Standard_D4s_v5</a:t>
            </a:r>
          </a:p>
          <a:p>
            <a:pPr>
              <a:spcBef>
                <a:spcPts val="400"/>
              </a:spcBef>
              <a:defRPr sz="1200">
                <a:solidFill>
                  <a:srgbClr val="1E1E1E"/>
                </a:solidFill>
              </a:defRPr>
            </a:pPr>
            <a:r>
              <a:t>  - Max Cores: 100 (Autoscale)</a:t>
            </a:r>
          </a:p>
          <a:p>
            <a:pPr>
              <a:spcBef>
                <a:spcPts val="400"/>
              </a:spcBef>
              <a:defRPr sz="1200">
                <a:solidFill>
                  <a:srgbClr val="1E1E1E"/>
                </a:solidFill>
              </a:defRPr>
            </a:pPr>
            <a:r>
              <a:t>  - Subnet: compute (10.0.1.0/24)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8046720" y="1280160"/>
            <a:ext cx="3566160" cy="5029200"/>
          </a:xfrm>
          <a:prstGeom prst="roundRect">
            <a:avLst/>
          </a:prstGeom>
          <a:solidFill>
            <a:srgbClr val="EBF0F8"/>
          </a:solidFill>
          <a:ln w="19050">
            <a:solidFill>
              <a:srgbClr val="C8D7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0" rIns="228600" tIns="182880" bIns="182880"/>
          <a:lstStyle/>
          <a:p>
            <a:pPr algn="ctr">
              <a:defRPr sz="1600" b="1">
                <a:solidFill>
                  <a:srgbClr val="0F2240"/>
                </a:solidFill>
              </a:defRPr>
            </a:pPr>
            <a:r>
              <a:t>3단계: 최초 기동 &amp; 검증</a:t>
            </a:r>
          </a:p>
          <a:p>
            <a:pPr>
              <a:spcBef>
                <a:spcPts val="400"/>
              </a:spcBef>
              <a:defRPr sz="1200">
                <a:solidFill>
                  <a:srgbClr val="1E1E1E"/>
                </a:solidFill>
              </a:defRPr>
            </a:pPr>
            <a:r>
              <a:t>• 1. Start 버튼 클릭 (노드 상태 변화):</a:t>
            </a:r>
          </a:p>
          <a:p>
            <a:pPr>
              <a:spcBef>
                <a:spcPts val="400"/>
              </a:spcBef>
              <a:defRPr sz="1200">
                <a:solidFill>
                  <a:srgbClr val="1E1E1E"/>
                </a:solidFill>
              </a:defRPr>
            </a:pPr>
            <a:r>
              <a:t>  - Off -&gt; Acquiring -&gt; Preparing -&gt; Ready</a:t>
            </a:r>
          </a:p>
          <a:p>
            <a:pPr>
              <a:spcBef>
                <a:spcPts val="400"/>
              </a:spcBef>
              <a:defRPr sz="1200">
                <a:solidFill>
                  <a:srgbClr val="1E1E1E"/>
                </a:solidFill>
              </a:defRPr>
            </a:pPr>
            <a:r>
              <a:t>• 2. 스케줄러 노드 SSH 접속:</a:t>
            </a:r>
          </a:p>
          <a:p>
            <a:pPr>
              <a:spcBef>
                <a:spcPts val="400"/>
              </a:spcBef>
              <a:defRPr sz="1200">
                <a:solidFill>
                  <a:srgbClr val="1E1E1E"/>
                </a:solidFill>
              </a:defRPr>
            </a:pPr>
            <a:r>
              <a:t>  - cyclecloud connect scheduler</a:t>
            </a:r>
          </a:p>
          <a:p>
            <a:pPr>
              <a:spcBef>
                <a:spcPts val="400"/>
              </a:spcBef>
              <a:defRPr sz="1200">
                <a:solidFill>
                  <a:srgbClr val="1E1E1E"/>
                </a:solidFill>
              </a:defRPr>
            </a:pPr>
            <a:r>
              <a:t>• 3. 상태 조회 &amp; 테스트 작업 제출:</a:t>
            </a:r>
          </a:p>
          <a:p>
            <a:pPr>
              <a:spcBef>
                <a:spcPts val="400"/>
              </a:spcBef>
              <a:defRPr sz="1200">
                <a:solidFill>
                  <a:srgbClr val="1E1E1E"/>
                </a:solidFill>
              </a:defRPr>
            </a:pPr>
            <a:r>
              <a:t>  - sinfo / squeue</a:t>
            </a:r>
          </a:p>
          <a:p>
            <a:pPr>
              <a:spcBef>
                <a:spcPts val="400"/>
              </a:spcBef>
              <a:defRPr sz="1200">
                <a:solidFill>
                  <a:srgbClr val="1E1E1E"/>
                </a:solidFill>
              </a:defRPr>
            </a:pPr>
            <a:r>
              <a:t>  - srun -N 1 hostname</a:t>
            </a:r>
          </a:p>
          <a:p>
            <a:pPr>
              <a:spcBef>
                <a:spcPts val="400"/>
              </a:spcBef>
              <a:defRPr sz="1200">
                <a:solidFill>
                  <a:srgbClr val="1E1E1E"/>
                </a:solidFill>
              </a:defRPr>
            </a:pPr>
            <a:r>
              <a:t>  - sbatch test_job.sh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5F7FA"/>
          </a:solidFill>
          <a:ln>
            <a:solidFill>
              <a:srgbClr val="F5F7F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005840"/>
          </a:xfrm>
          <a:prstGeom prst="rect">
            <a:avLst/>
          </a:prstGeom>
          <a:solidFill>
            <a:srgbClr val="0F2240"/>
          </a:solidFill>
          <a:ln>
            <a:solidFill>
              <a:srgbClr val="0F224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0" tIns="137160"/>
          <a:lstStyle/>
          <a:p>
            <a:pPr algn="ctr">
              <a:defRPr sz="1000" b="1">
                <a:solidFill>
                  <a:srgbClr val="0072CE"/>
                </a:solidFill>
              </a:defRPr>
            </a:pPr>
            <a:r>
              <a:t>AZURE CYCLECLOUD MSP TRAINING &amp; KT STATUS</a:t>
            </a:r>
          </a:p>
          <a:p>
            <a:pPr>
              <a:defRPr sz="2200" b="1">
                <a:solidFill>
                  <a:srgbClr val="FFFFFF"/>
                </a:solidFill>
              </a:defRPr>
            </a:pPr>
            <a:r>
              <a:t>1부. Slurm 주요 명령어 &amp; CycleCloud CLI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548640" y="1280160"/>
            <a:ext cx="5303520" cy="5029200"/>
          </a:xfrm>
          <a:prstGeom prst="roundRect">
            <a:avLst/>
          </a:prstGeom>
          <a:solidFill>
            <a:srgbClr val="EBF0F8"/>
          </a:solidFill>
          <a:ln w="19050">
            <a:solidFill>
              <a:srgbClr val="C8D7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0" rIns="228600" tIns="182880" bIns="182880"/>
          <a:lstStyle/>
          <a:p>
            <a:pPr algn="ctr">
              <a:defRPr sz="1600" b="1">
                <a:solidFill>
                  <a:srgbClr val="0F2240"/>
                </a:solidFill>
              </a:defRPr>
            </a:pPr>
            <a:r>
              <a:t>⚡ Slurm 주요 명령어 요약</a:t>
            </a:r>
          </a:p>
          <a:p>
            <a:pPr>
              <a:spcBef>
                <a:spcPts val="400"/>
              </a:spcBef>
              <a:defRPr sz="1200">
                <a:solidFill>
                  <a:srgbClr val="1E1E1E"/>
                </a:solidFill>
              </a:defRPr>
            </a:pPr>
            <a:r>
              <a:t>• sinfo : 파티션 및 노드 상태 조회 (idle, alloc, down, drain)</a:t>
            </a:r>
          </a:p>
          <a:p>
            <a:pPr>
              <a:spcBef>
                <a:spcPts val="400"/>
              </a:spcBef>
              <a:defRPr sz="1200">
                <a:solidFill>
                  <a:srgbClr val="1E1E1E"/>
                </a:solidFill>
              </a:defRPr>
            </a:pPr>
            <a:r>
              <a:t>• squeue : Slurm 큐의 Job 상태 및 대기 사유(Reason) 확인</a:t>
            </a:r>
          </a:p>
          <a:p>
            <a:pPr>
              <a:spcBef>
                <a:spcPts val="400"/>
              </a:spcBef>
              <a:defRPr sz="1200">
                <a:solidFill>
                  <a:srgbClr val="1E1E1E"/>
                </a:solidFill>
              </a:defRPr>
            </a:pPr>
            <a:r>
              <a:t>• sbatch &lt;script.sh&gt; : 비동기 배치 작업 스크립트 제출</a:t>
            </a:r>
          </a:p>
          <a:p>
            <a:pPr>
              <a:spcBef>
                <a:spcPts val="400"/>
              </a:spcBef>
              <a:defRPr sz="1200">
                <a:solidFill>
                  <a:srgbClr val="1E1E1E"/>
                </a:solidFill>
              </a:defRPr>
            </a:pPr>
            <a:r>
              <a:t>• srun &lt;cmd&gt; : Slurm 자원을 즉시 할당받아 대화형 실행</a:t>
            </a:r>
          </a:p>
          <a:p>
            <a:pPr>
              <a:spcBef>
                <a:spcPts val="400"/>
              </a:spcBef>
              <a:defRPr sz="1200">
                <a:solidFill>
                  <a:srgbClr val="1E1E1E"/>
                </a:solidFill>
              </a:defRPr>
            </a:pPr>
            <a:r>
              <a:t>• sacct : 완료된 Job 실행 이력 및 CPU/GPU/메모리 사용량 조회</a:t>
            </a:r>
          </a:p>
          <a:p>
            <a:pPr>
              <a:spcBef>
                <a:spcPts val="400"/>
              </a:spcBef>
              <a:defRPr sz="1200">
                <a:solidFill>
                  <a:srgbClr val="1E1E1E"/>
                </a:solidFill>
              </a:defRPr>
            </a:pPr>
            <a:r>
              <a:t>• scontrol show job &lt;jobid&gt; : Job 상세 정보 및 대기 원인 분석</a:t>
            </a:r>
          </a:p>
          <a:p>
            <a:pPr>
              <a:spcBef>
                <a:spcPts val="400"/>
              </a:spcBef>
              <a:defRPr sz="1200">
                <a:solidFill>
                  <a:srgbClr val="1E1E1E"/>
                </a:solidFill>
              </a:defRPr>
            </a:pPr>
            <a:r>
              <a:t>• scontrol reconfigure : Slurm 설정(azure.conf) 즉시 재적용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6217920" y="1280160"/>
            <a:ext cx="5394960" cy="5029200"/>
          </a:xfrm>
          <a:prstGeom prst="roundRect">
            <a:avLst/>
          </a:prstGeom>
          <a:solidFill>
            <a:srgbClr val="EBF0F8"/>
          </a:solidFill>
          <a:ln w="19050">
            <a:solidFill>
              <a:srgbClr val="C8D7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0" rIns="228600" tIns="182880" bIns="182880"/>
          <a:lstStyle/>
          <a:p>
            <a:pPr algn="ctr">
              <a:defRPr sz="1600" b="1">
                <a:solidFill>
                  <a:srgbClr val="0F2240"/>
                </a:solidFill>
              </a:defRPr>
            </a:pPr>
            <a:r>
              <a:t>🛠️ CycleCloud CLI (`cyclecloud` &amp; `azslurm`)</a:t>
            </a:r>
          </a:p>
          <a:p>
            <a:pPr>
              <a:spcBef>
                <a:spcPts val="400"/>
              </a:spcBef>
              <a:defRPr sz="1200">
                <a:solidFill>
                  <a:srgbClr val="1E1E1E"/>
                </a:solidFill>
              </a:defRPr>
            </a:pPr>
            <a:r>
              <a:t>• CycleCloud Master Server에 사전 설치 완료</a:t>
            </a:r>
          </a:p>
          <a:p>
            <a:pPr>
              <a:spcBef>
                <a:spcPts val="400"/>
              </a:spcBef>
              <a:defRPr sz="1200">
                <a:solidFill>
                  <a:srgbClr val="1E1E1E"/>
                </a:solidFill>
              </a:defRPr>
            </a:pPr>
            <a:r>
              <a:t>• cyclecloud show_cluster &lt;cluster&gt; : 클러스터 상태 확인</a:t>
            </a:r>
          </a:p>
          <a:p>
            <a:pPr>
              <a:spcBef>
                <a:spcPts val="400"/>
              </a:spcBef>
              <a:defRPr sz="1200">
                <a:solidFill>
                  <a:srgbClr val="1E1E1E"/>
                </a:solidFill>
              </a:defRPr>
            </a:pPr>
            <a:r>
              <a:t>• cyclecloud show_nodes -c &lt;cluster&gt; : 노드별 상세 상태 확인</a:t>
            </a:r>
          </a:p>
          <a:p>
            <a:pPr>
              <a:spcBef>
                <a:spcPts val="400"/>
              </a:spcBef>
              <a:defRPr sz="1200">
                <a:solidFill>
                  <a:srgbClr val="1E1E1E"/>
                </a:solidFill>
              </a:defRPr>
            </a:pPr>
            <a:r>
              <a:t>• cyclecloud start_cluster / terminate_cluster : 클러스터 제어</a:t>
            </a:r>
          </a:p>
          <a:p>
            <a:pPr>
              <a:spcBef>
                <a:spcPts val="400"/>
              </a:spcBef>
              <a:defRPr sz="1200">
                <a:solidFill>
                  <a:srgbClr val="1E1E1E"/>
                </a:solidFill>
              </a:defRPr>
            </a:pPr>
            <a:r>
              <a:t>• cyclecloud project upload &lt;locker&gt; : cluster-init 업로드</a:t>
            </a:r>
          </a:p>
          <a:p>
            <a:pPr>
              <a:spcBef>
                <a:spcPts val="400"/>
              </a:spcBef>
              <a:defRPr sz="1200">
                <a:solidFill>
                  <a:srgbClr val="1E1E1E"/>
                </a:solidFill>
              </a:defRPr>
            </a:pPr>
            <a:r>
              <a:t>• azslurm resume --node-list &lt;node&gt; : 수동 노드 프로비저닝</a:t>
            </a:r>
          </a:p>
          <a:p>
            <a:pPr>
              <a:spcBef>
                <a:spcPts val="400"/>
              </a:spcBef>
              <a:defRPr sz="1200">
                <a:solidFill>
                  <a:srgbClr val="1E1E1E"/>
                </a:solidFill>
              </a:defRPr>
            </a:pPr>
            <a:r>
              <a:t>• azslurm suspend --node-list &lt;node&gt; : 수동 노드 회수/삭제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5F7FA"/>
          </a:solidFill>
          <a:ln>
            <a:solidFill>
              <a:srgbClr val="F5F7F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005840"/>
          </a:xfrm>
          <a:prstGeom prst="rect">
            <a:avLst/>
          </a:prstGeom>
          <a:solidFill>
            <a:srgbClr val="0F2240"/>
          </a:solidFill>
          <a:ln>
            <a:solidFill>
              <a:srgbClr val="0F224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0" tIns="137160"/>
          <a:lstStyle/>
          <a:p>
            <a:pPr algn="ctr">
              <a:defRPr sz="1000" b="1">
                <a:solidFill>
                  <a:srgbClr val="0072CE"/>
                </a:solidFill>
              </a:defRPr>
            </a:pPr>
            <a:r>
              <a:t>AZURE CYCLECLOUD MSP TRAINING &amp; KT STATUS</a:t>
            </a:r>
          </a:p>
          <a:p>
            <a:pPr>
              <a:defRPr sz="2200" b="1">
                <a:solidFill>
                  <a:srgbClr val="FFFFFF"/>
                </a:solidFill>
              </a:defRPr>
            </a:pPr>
            <a:r>
              <a:t>2부. KT CycleCloud 현재 구축 현황 (2026년 기준)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548640" y="1280160"/>
            <a:ext cx="3474720" cy="5029200"/>
          </a:xfrm>
          <a:prstGeom prst="roundRect">
            <a:avLst/>
          </a:prstGeom>
          <a:solidFill>
            <a:srgbClr val="EBF0F8"/>
          </a:solidFill>
          <a:ln w="19050">
            <a:solidFill>
              <a:srgbClr val="C8D7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0" rIns="228600" tIns="182880" bIns="182880"/>
          <a:lstStyle/>
          <a:p>
            <a:pPr algn="ctr">
              <a:defRPr sz="1600" b="1">
                <a:solidFill>
                  <a:srgbClr val="0F2240"/>
                </a:solidFill>
              </a:defRPr>
            </a:pPr>
            <a:r>
              <a:t>📍 리전 이관 현황</a:t>
            </a:r>
          </a:p>
          <a:p>
            <a:pPr>
              <a:spcBef>
                <a:spcPts val="400"/>
              </a:spcBef>
              <a:defRPr sz="1200">
                <a:solidFill>
                  <a:srgbClr val="1E1E1E"/>
                </a:solidFill>
              </a:defRPr>
            </a:pPr>
            <a:r>
              <a:t>• 기존 구성: UAEN, KRC, KRS 3개 리전 분산 운영</a:t>
            </a:r>
          </a:p>
          <a:p>
            <a:pPr>
              <a:spcBef>
                <a:spcPts val="400"/>
              </a:spcBef>
              <a:defRPr sz="1200">
                <a:solidFill>
                  <a:srgbClr val="1E1E1E"/>
                </a:solidFill>
              </a:defRPr>
            </a:pPr>
            <a:r>
              <a:t>• 2026년 6월: Mexico Region으로 일괄 통합 이관</a:t>
            </a:r>
          </a:p>
          <a:p>
            <a:pPr>
              <a:spcBef>
                <a:spcPts val="400"/>
              </a:spcBef>
              <a:defRPr sz="1200">
                <a:solidFill>
                  <a:srgbClr val="1E1E1E"/>
                </a:solidFill>
              </a:defRPr>
            </a:pPr>
            <a:r>
              <a:t>• 현재 규모:</a:t>
            </a:r>
          </a:p>
          <a:p>
            <a:pPr>
              <a:spcBef>
                <a:spcPts val="400"/>
              </a:spcBef>
              <a:defRPr sz="1200">
                <a:solidFill>
                  <a:srgbClr val="1E1E1E"/>
                </a:solidFill>
              </a:defRPr>
            </a:pPr>
            <a:r>
              <a:t>  - 운영 환경: Slurm 클러스터 1개 (노드 약 100개)</a:t>
            </a:r>
          </a:p>
          <a:p>
            <a:pPr>
              <a:spcBef>
                <a:spcPts val="400"/>
              </a:spcBef>
              <a:defRPr sz="1200">
                <a:solidFill>
                  <a:srgbClr val="1E1E1E"/>
                </a:solidFill>
              </a:defRPr>
            </a:pPr>
            <a:r>
              <a:t>  - 개발 환경: Single VM 각각 4개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4297680" y="1280160"/>
            <a:ext cx="3474720" cy="5029200"/>
          </a:xfrm>
          <a:prstGeom prst="roundRect">
            <a:avLst/>
          </a:prstGeom>
          <a:solidFill>
            <a:srgbClr val="EBF0F8"/>
          </a:solidFill>
          <a:ln w="19050">
            <a:solidFill>
              <a:srgbClr val="C8D7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0" rIns="228600" tIns="182880" bIns="182880"/>
          <a:lstStyle/>
          <a:p>
            <a:pPr algn="ctr">
              <a:defRPr sz="1600" b="1">
                <a:solidFill>
                  <a:srgbClr val="0F2240"/>
                </a:solidFill>
              </a:defRPr>
            </a:pPr>
            <a:r>
              <a:t>🔍 버전 체계 관리</a:t>
            </a:r>
          </a:p>
          <a:p>
            <a:pPr>
              <a:spcBef>
                <a:spcPts val="400"/>
              </a:spcBef>
              <a:defRPr sz="1200">
                <a:solidFill>
                  <a:srgbClr val="1E1E1E"/>
                </a:solidFill>
              </a:defRPr>
            </a:pPr>
            <a:r>
              <a:t>• 기술 지원 시 3가지 버전 정보 확인 필수:</a:t>
            </a:r>
          </a:p>
          <a:p>
            <a:pPr>
              <a:spcBef>
                <a:spcPts val="400"/>
              </a:spcBef>
              <a:defRPr sz="1200">
                <a:solidFill>
                  <a:srgbClr val="1E1E1E"/>
                </a:solidFill>
              </a:defRPr>
            </a:pPr>
            <a:r>
              <a:t>  1. CycleCloud Server 버전 (UI 우측 상단 '?')</a:t>
            </a:r>
          </a:p>
          <a:p>
            <a:pPr>
              <a:spcBef>
                <a:spcPts val="400"/>
              </a:spcBef>
              <a:defRPr sz="1200">
                <a:solidFill>
                  <a:srgbClr val="1E1E1E"/>
                </a:solidFill>
              </a:defRPr>
            </a:pPr>
            <a:r>
              <a:t>  2. Slurm Version (Cluster Edit &gt; Advanced)</a:t>
            </a:r>
          </a:p>
          <a:p>
            <a:pPr>
              <a:spcBef>
                <a:spcPts val="400"/>
              </a:spcBef>
              <a:defRPr sz="1200">
                <a:solidFill>
                  <a:srgbClr val="1E1E1E"/>
                </a:solidFill>
              </a:defRPr>
            </a:pPr>
            <a:r>
              <a:t>  3. Jetpack / azslurm 버전 (Master 노드 CLI)</a:t>
            </a:r>
          </a:p>
          <a:p>
            <a:pPr>
              <a:spcBef>
                <a:spcPts val="400"/>
              </a:spcBef>
              <a:defRPr sz="1200">
                <a:solidFill>
                  <a:srgbClr val="1E1E1E"/>
                </a:solidFill>
              </a:defRPr>
            </a:pPr>
            <a:r>
              <a:t>• 버전 확인 가이드 및 스크립트 문서화 완료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8046720" y="1280160"/>
            <a:ext cx="3566160" cy="5029200"/>
          </a:xfrm>
          <a:prstGeom prst="roundRect">
            <a:avLst/>
          </a:prstGeom>
          <a:solidFill>
            <a:srgbClr val="EBF0F8"/>
          </a:solidFill>
          <a:ln w="19050">
            <a:solidFill>
              <a:srgbClr val="C8D7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0" rIns="228600" tIns="182880" bIns="182880"/>
          <a:lstStyle/>
          <a:p>
            <a:pPr algn="ctr">
              <a:defRPr sz="1600" b="1">
                <a:solidFill>
                  <a:srgbClr val="0F2240"/>
                </a:solidFill>
              </a:defRPr>
            </a:pPr>
            <a:r>
              <a:t>💻 CLI &amp; 접근 제어</a:t>
            </a:r>
          </a:p>
          <a:p>
            <a:pPr>
              <a:spcBef>
                <a:spcPts val="400"/>
              </a:spcBef>
              <a:defRPr sz="1200">
                <a:solidFill>
                  <a:srgbClr val="1E1E1E"/>
                </a:solidFill>
              </a:defRPr>
            </a:pPr>
            <a:r>
              <a:t>• CycleCloud Master Server (cc-server)에 설치</a:t>
            </a:r>
          </a:p>
          <a:p>
            <a:pPr>
              <a:spcBef>
                <a:spcPts val="400"/>
              </a:spcBef>
              <a:defRPr sz="1200">
                <a:solidFill>
                  <a:srgbClr val="1E1E1E"/>
                </a:solidFill>
              </a:defRPr>
            </a:pPr>
            <a:r>
              <a:t>• CycleCloud GUI 접속도 서버 공인 IP로 처리</a:t>
            </a:r>
          </a:p>
          <a:p>
            <a:pPr>
              <a:spcBef>
                <a:spcPts val="400"/>
              </a:spcBef>
              <a:defRPr sz="1200">
                <a:solidFill>
                  <a:srgbClr val="1E1E1E"/>
                </a:solidFill>
              </a:defRPr>
            </a:pPr>
            <a:r>
              <a:t>• Azure Portal '명령 실행(Run Command)' 활용:</a:t>
            </a:r>
          </a:p>
          <a:p>
            <a:pPr>
              <a:spcBef>
                <a:spcPts val="400"/>
              </a:spcBef>
              <a:defRPr sz="1200">
                <a:solidFill>
                  <a:srgbClr val="1E1E1E"/>
                </a:solidFill>
              </a:defRPr>
            </a:pPr>
            <a:r>
              <a:t>  - SSH 키 없이도 Azure RBAC 권한만으로 서버 접근 및 로그 확인 가능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5F7FA"/>
          </a:solidFill>
          <a:ln>
            <a:solidFill>
              <a:srgbClr val="F5F7F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005840"/>
          </a:xfrm>
          <a:prstGeom prst="rect">
            <a:avLst/>
          </a:prstGeom>
          <a:solidFill>
            <a:srgbClr val="0F2240"/>
          </a:solidFill>
          <a:ln>
            <a:solidFill>
              <a:srgbClr val="0F224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0" tIns="137160"/>
          <a:lstStyle/>
          <a:p>
            <a:pPr algn="ctr">
              <a:defRPr sz="1000" b="1">
                <a:solidFill>
                  <a:srgbClr val="0072CE"/>
                </a:solidFill>
              </a:defRPr>
            </a:pPr>
            <a:r>
              <a:t>AZURE CYCLECLOUD MSP TRAINING &amp; KT STATUS</a:t>
            </a:r>
          </a:p>
          <a:p>
            <a:pPr>
              <a:defRPr sz="2200" b="1">
                <a:solidFill>
                  <a:srgbClr val="FFFFFF"/>
                </a:solidFill>
              </a:defRPr>
            </a:pPr>
            <a:r>
              <a:t>2부. KT 운영 지침 ①: GPU VM RI &amp; 노드 재시작 최소화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548640" y="1280160"/>
            <a:ext cx="11094415" cy="2103120"/>
          </a:xfrm>
          <a:prstGeom prst="roundRect">
            <a:avLst/>
          </a:prstGeom>
          <a:solidFill>
            <a:srgbClr val="FEF3EB"/>
          </a:solidFill>
          <a:ln w="19050">
            <a:solidFill>
              <a:srgbClr val="F0966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0" rIns="228600" tIns="182880" bIns="182880"/>
          <a:lstStyle/>
          <a:p>
            <a:pPr algn="ctr">
              <a:defRPr sz="1600" b="1">
                <a:solidFill>
                  <a:srgbClr val="E35521"/>
                </a:solidFill>
              </a:defRPr>
            </a:pPr>
            <a:r>
              <a:t>⚠️ [최우선 지침] 노드 재시작 최소화 원칙</a:t>
            </a:r>
          </a:p>
          <a:p>
            <a:pPr>
              <a:spcBef>
                <a:spcPts val="400"/>
              </a:spcBef>
              <a:defRPr sz="1200">
                <a:solidFill>
                  <a:srgbClr val="1E1E1E"/>
                </a:solidFill>
              </a:defRPr>
            </a:pPr>
            <a:r>
              <a:t>• CycleCloud 지원 및 장애 조치 시 노드 재시작을 최소화하는 것이 가장 중요합니다.</a:t>
            </a:r>
          </a:p>
          <a:p>
            <a:pPr>
              <a:spcBef>
                <a:spcPts val="400"/>
              </a:spcBef>
              <a:defRPr sz="1200">
                <a:solidFill>
                  <a:srgbClr val="1E1E1E"/>
                </a:solidFill>
              </a:defRPr>
            </a:pPr>
            <a:r>
              <a:t>• 원인: GPU VM Capa(용량) 부족으로 인해 노드 재시작/재생성 시 재할당(Acquiring)이 실패할 수 있음</a:t>
            </a:r>
          </a:p>
          <a:p>
            <a:pPr>
              <a:spcBef>
                <a:spcPts val="400"/>
              </a:spcBef>
              <a:defRPr sz="1200">
                <a:solidFill>
                  <a:srgbClr val="1E1E1E"/>
                </a:solidFill>
              </a:defRPr>
            </a:pPr>
            <a:r>
              <a:t>• 조치: 재시작이 불가피한 경우 반드시 Azure Capa 팀과 사전 일정을 조율한 후 진행하십시오.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548640" y="3566160"/>
            <a:ext cx="5303520" cy="2743200"/>
          </a:xfrm>
          <a:prstGeom prst="roundRect">
            <a:avLst/>
          </a:prstGeom>
          <a:solidFill>
            <a:srgbClr val="EBF0F8"/>
          </a:solidFill>
          <a:ln w="19050">
            <a:solidFill>
              <a:srgbClr val="C8D7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0" rIns="228600" tIns="182880" bIns="182880"/>
          <a:lstStyle/>
          <a:p>
            <a:pPr algn="ctr">
              <a:defRPr sz="1600" b="1">
                <a:solidFill>
                  <a:srgbClr val="0F2240"/>
                </a:solidFill>
              </a:defRPr>
            </a:pPr>
            <a:r>
              <a:t>💳 Reserved Instance (RI) 적용 규정</a:t>
            </a:r>
          </a:p>
          <a:p>
            <a:pPr>
              <a:spcBef>
                <a:spcPts val="400"/>
              </a:spcBef>
              <a:defRPr sz="1200">
                <a:solidFill>
                  <a:srgbClr val="1E1E1E"/>
                </a:solidFill>
              </a:defRPr>
            </a:pPr>
            <a:r>
              <a:t>• KT CycleCloud GPU VM들은 Reserved Instance(RI)가 적용되어 있습니다.</a:t>
            </a:r>
          </a:p>
          <a:p>
            <a:pPr>
              <a:spcBef>
                <a:spcPts val="400"/>
              </a:spcBef>
              <a:defRPr sz="1200">
                <a:solidFill>
                  <a:srgbClr val="1E1E1E"/>
                </a:solidFill>
              </a:defRPr>
            </a:pPr>
            <a:r>
              <a:t>• 의도치 않은 Scale-in으로 인해 RI 자원이 놀거나 회수되는 상황을 방지해야 합니다.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217920" y="3566160"/>
            <a:ext cx="5394960" cy="2743200"/>
          </a:xfrm>
          <a:prstGeom prst="roundRect">
            <a:avLst/>
          </a:prstGeom>
          <a:solidFill>
            <a:srgbClr val="EBF0F8"/>
          </a:solidFill>
          <a:ln w="19050">
            <a:solidFill>
              <a:srgbClr val="C8D7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0" rIns="228600" tIns="182880" bIns="182880"/>
          <a:lstStyle/>
          <a:p>
            <a:pPr algn="ctr">
              <a:defRPr sz="1600" b="1">
                <a:solidFill>
                  <a:srgbClr val="0F2240"/>
                </a:solidFill>
              </a:defRPr>
            </a:pPr>
            <a:r>
              <a:t>🛡️ Scale-in 방지 설정 (slurm.conf)</a:t>
            </a:r>
          </a:p>
          <a:p>
            <a:pPr>
              <a:spcBef>
                <a:spcPts val="400"/>
              </a:spcBef>
              <a:defRPr sz="1200">
                <a:solidFill>
                  <a:srgbClr val="1E1E1E"/>
                </a:solidFill>
              </a:defRPr>
            </a:pPr>
            <a:r>
              <a:t>• Slurm 기본 Suspend time은 300초(5분)로 유휴 시 자동 감설됨</a:t>
            </a:r>
          </a:p>
          <a:p>
            <a:pPr>
              <a:spcBef>
                <a:spcPts val="400"/>
              </a:spcBef>
              <a:defRPr sz="1200">
                <a:solidFill>
                  <a:srgbClr val="1E1E1E"/>
                </a:solidFill>
              </a:defRPr>
            </a:pPr>
            <a:r>
              <a:t>• UI의 'keep_alive' 옵션 오작동 사례 존재</a:t>
            </a:r>
          </a:p>
          <a:p>
            <a:pPr>
              <a:spcBef>
                <a:spcPts val="400"/>
              </a:spcBef>
              <a:defRPr sz="1200">
                <a:solidFill>
                  <a:srgbClr val="1E1E1E"/>
                </a:solidFill>
              </a:defRPr>
            </a:pPr>
            <a:r>
              <a:t>• 해결: /etc/slurm/slurm.conf 에 SuspendExcParts=hpc 설정 적용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5F7FA"/>
          </a:solidFill>
          <a:ln>
            <a:solidFill>
              <a:srgbClr val="F5F7F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005840"/>
          </a:xfrm>
          <a:prstGeom prst="rect">
            <a:avLst/>
          </a:prstGeom>
          <a:solidFill>
            <a:srgbClr val="0F2240"/>
          </a:solidFill>
          <a:ln>
            <a:solidFill>
              <a:srgbClr val="0F224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0" tIns="137160"/>
          <a:lstStyle/>
          <a:p>
            <a:pPr algn="ctr">
              <a:defRPr sz="1000" b="1">
                <a:solidFill>
                  <a:srgbClr val="0072CE"/>
                </a:solidFill>
              </a:defRPr>
            </a:pPr>
            <a:r>
              <a:t>AZURE CYCLECLOUD MSP TRAINING &amp; KT STATUS</a:t>
            </a:r>
          </a:p>
          <a:p>
            <a:pPr>
              <a:defRPr sz="2200" b="1">
                <a:solidFill>
                  <a:srgbClr val="FFFFFF"/>
                </a:solidFill>
              </a:defRPr>
            </a:pPr>
            <a:r>
              <a:t>2부. KT 운영 지침 ②: cloud-init vs cluster-init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548640" y="1280160"/>
            <a:ext cx="5303520" cy="5029200"/>
          </a:xfrm>
          <a:prstGeom prst="roundRect">
            <a:avLst/>
          </a:prstGeom>
          <a:solidFill>
            <a:srgbClr val="FEF3EB"/>
          </a:solidFill>
          <a:ln w="19050">
            <a:solidFill>
              <a:srgbClr val="F0966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0" rIns="228600" tIns="182880" bIns="182880"/>
          <a:lstStyle/>
          <a:p>
            <a:pPr algn="ctr">
              <a:defRPr sz="1600" b="1">
                <a:solidFill>
                  <a:srgbClr val="E35521"/>
                </a:solidFill>
              </a:defRPr>
            </a:pPr>
            <a:r>
              <a:t>❌ cloud-init 사용 시 주의사항 (금지)</a:t>
            </a:r>
          </a:p>
          <a:p>
            <a:pPr>
              <a:spcBef>
                <a:spcPts val="400"/>
              </a:spcBef>
              <a:defRPr sz="1200">
                <a:solidFill>
                  <a:srgbClr val="1E1E1E"/>
                </a:solidFill>
              </a:defRPr>
            </a:pPr>
            <a:r>
              <a:t>• cloud-init은 VMSS level user-data 스크립트입니다.</a:t>
            </a:r>
          </a:p>
          <a:p>
            <a:pPr>
              <a:spcBef>
                <a:spcPts val="400"/>
              </a:spcBef>
              <a:defRPr sz="1200">
                <a:solidFill>
                  <a:srgbClr val="1E1E1E"/>
                </a:solidFill>
              </a:defRPr>
            </a:pPr>
            <a:r>
              <a:t>• 수정 후 노드 추가/재기동 시 아래 오류 발생하며 노드 할당 실패:</a:t>
            </a:r>
          </a:p>
          <a:p>
            <a:pPr>
              <a:spcBef>
                <a:spcPts val="400"/>
              </a:spcBef>
              <a:defRPr sz="1200">
                <a:solidFill>
                  <a:srgbClr val="1E1E1E"/>
                </a:solidFill>
              </a:defRPr>
            </a:pPr>
            <a:r>
              <a:t>  'This node does not match existing scaleset attribute: CloudInit'</a:t>
            </a:r>
          </a:p>
          <a:p>
            <a:pPr>
              <a:spcBef>
                <a:spcPts val="400"/>
              </a:spcBef>
              <a:defRPr sz="1200">
                <a:solidFill>
                  <a:srgbClr val="1E1E1E"/>
                </a:solidFill>
              </a:defRPr>
            </a:pPr>
            <a:r>
              <a:t>• 원인: 기존 VMSS 속성과 신규 속성 불일치</a:t>
            </a:r>
          </a:p>
          <a:p>
            <a:pPr>
              <a:spcBef>
                <a:spcPts val="400"/>
              </a:spcBef>
              <a:defRPr sz="1200">
                <a:solidFill>
                  <a:srgbClr val="1E1E1E"/>
                </a:solidFill>
              </a:defRPr>
            </a:pPr>
            <a:r>
              <a:t>• 위험: 문제 해소를 위해 전체 클러스터 재기동 필요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6217920" y="1280160"/>
            <a:ext cx="5394960" cy="5029200"/>
          </a:xfrm>
          <a:prstGeom prst="roundRect">
            <a:avLst/>
          </a:prstGeom>
          <a:solidFill>
            <a:srgbClr val="EBF0F8"/>
          </a:solidFill>
          <a:ln w="19050">
            <a:solidFill>
              <a:srgbClr val="C8D7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0" rIns="228600" tIns="182880" bIns="182880"/>
          <a:lstStyle/>
          <a:p>
            <a:pPr algn="ctr">
              <a:defRPr sz="1600" b="1">
                <a:solidFill>
                  <a:srgbClr val="0F2240"/>
                </a:solidFill>
              </a:defRPr>
            </a:pPr>
            <a:r>
              <a:t>✅ cluster-init 권장 및 KT 구성 현황</a:t>
            </a:r>
          </a:p>
          <a:p>
            <a:pPr>
              <a:spcBef>
                <a:spcPts val="400"/>
              </a:spcBef>
              <a:defRPr sz="1200">
                <a:solidFill>
                  <a:srgbClr val="1E1E1E"/>
                </a:solidFill>
              </a:defRPr>
            </a:pPr>
            <a:r>
              <a:t>• cluster-init은 CycleCloud 전용 수렴(converge) 프로젝트 방식</a:t>
            </a:r>
          </a:p>
          <a:p>
            <a:pPr>
              <a:spcBef>
                <a:spcPts val="400"/>
              </a:spcBef>
              <a:defRPr sz="1200">
                <a:solidFill>
                  <a:srgbClr val="1E1E1E"/>
                </a:solidFill>
              </a:defRPr>
            </a:pPr>
            <a:r>
              <a:t>• 개별 노드/배열 단위로 변경 사항 안전하게 적용 가능</a:t>
            </a:r>
          </a:p>
          <a:p>
            <a:pPr>
              <a:spcBef>
                <a:spcPts val="400"/>
              </a:spcBef>
              <a:defRPr sz="1200">
                <a:solidFill>
                  <a:srgbClr val="1E1E1E"/>
                </a:solidFill>
              </a:defRPr>
            </a:pPr>
            <a:r>
              <a:t>• KT 구성 현황:</a:t>
            </a:r>
          </a:p>
          <a:p>
            <a:pPr>
              <a:spcBef>
                <a:spcPts val="400"/>
              </a:spcBef>
              <a:defRPr sz="1200">
                <a:solidFill>
                  <a:srgbClr val="1E1E1E"/>
                </a:solidFill>
              </a:defRPr>
            </a:pPr>
            <a:r>
              <a:t>  - Blob Storage (Locker: cclkekwphusd3i)에 4~5개 스크립트 저장</a:t>
            </a:r>
          </a:p>
          <a:p>
            <a:pPr>
              <a:spcBef>
                <a:spcPts val="400"/>
              </a:spcBef>
              <a:defRPr sz="1200">
                <a:solidFill>
                  <a:srgbClr val="1E1E1E"/>
                </a:solidFill>
              </a:defRPr>
            </a:pPr>
            <a:r>
              <a:t>  - 주요 스크립트: Scale-in 방지, NVIDIA 드라이버 버전 업, 마운트 등</a:t>
            </a:r>
          </a:p>
          <a:p>
            <a:pPr>
              <a:spcBef>
                <a:spcPts val="400"/>
              </a:spcBef>
              <a:defRPr sz="1200">
                <a:solidFill>
                  <a:srgbClr val="1E1E1E"/>
                </a:solidFill>
              </a:defRPr>
            </a:pPr>
            <a:r>
              <a:t>  - jetpack converge 로 노드 재부팅 없이 스크립트 재실행 가능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5F7FA"/>
          </a:solidFill>
          <a:ln>
            <a:solidFill>
              <a:srgbClr val="F5F7F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005840"/>
          </a:xfrm>
          <a:prstGeom prst="rect">
            <a:avLst/>
          </a:prstGeom>
          <a:solidFill>
            <a:srgbClr val="0F2240"/>
          </a:solidFill>
          <a:ln>
            <a:solidFill>
              <a:srgbClr val="0F224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0" tIns="137160"/>
          <a:lstStyle/>
          <a:p>
            <a:pPr algn="ctr">
              <a:defRPr sz="1000" b="1">
                <a:solidFill>
                  <a:srgbClr val="0072CE"/>
                </a:solidFill>
              </a:defRPr>
            </a:pPr>
            <a:r>
              <a:t>AZURE CYCLECLOUD MSP TRAINING &amp; KT STATUS</a:t>
            </a:r>
          </a:p>
          <a:p>
            <a:pPr>
              <a:defRPr sz="2200" b="1">
                <a:solidFill>
                  <a:srgbClr val="FFFFFF"/>
                </a:solidFill>
              </a:defRPr>
            </a:pPr>
            <a:r>
              <a:t>2부. KT 운영 지침 ③: Job Accounting &amp; 사용자 관리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548640" y="1280160"/>
            <a:ext cx="5303520" cy="5029200"/>
          </a:xfrm>
          <a:prstGeom prst="roundRect">
            <a:avLst/>
          </a:prstGeom>
          <a:solidFill>
            <a:srgbClr val="EBF0F8"/>
          </a:solidFill>
          <a:ln w="19050">
            <a:solidFill>
              <a:srgbClr val="C8D7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0" rIns="228600" tIns="182880" bIns="182880"/>
          <a:lstStyle/>
          <a:p>
            <a:pPr algn="ctr">
              <a:defRPr sz="1600" b="1">
                <a:solidFill>
                  <a:srgbClr val="0F2240"/>
                </a:solidFill>
              </a:defRPr>
            </a:pPr>
            <a:r>
              <a:t>📊 Job Accounting (sacct) 연동</a:t>
            </a:r>
          </a:p>
          <a:p>
            <a:pPr>
              <a:spcBef>
                <a:spcPts val="400"/>
              </a:spcBef>
              <a:defRPr sz="1200">
                <a:solidFill>
                  <a:srgbClr val="1E1E1E"/>
                </a:solidFill>
              </a:defRPr>
            </a:pPr>
            <a:r>
              <a:t>• Job 실행 이력 및 CPU/GPU/메모리 사용량을 영구 보존</a:t>
            </a:r>
          </a:p>
          <a:p>
            <a:pPr>
              <a:spcBef>
                <a:spcPts val="400"/>
              </a:spcBef>
              <a:defRPr sz="1200">
                <a:solidFill>
                  <a:srgbClr val="1E1E1E"/>
                </a:solidFill>
              </a:defRPr>
            </a:pPr>
            <a:r>
              <a:t>• DB 구성: Azure Database for MySQL - Flexible Server</a:t>
            </a:r>
          </a:p>
          <a:p>
            <a:pPr>
              <a:spcBef>
                <a:spcPts val="400"/>
              </a:spcBef>
              <a:defRPr sz="1200">
                <a:solidFill>
                  <a:srgbClr val="1E1E1E"/>
                </a:solidFill>
              </a:defRPr>
            </a:pPr>
            <a:r>
              <a:t>  - VNet 내 Private Subnet 배치로 보안 강화</a:t>
            </a:r>
          </a:p>
          <a:p>
            <a:pPr>
              <a:spcBef>
                <a:spcPts val="400"/>
              </a:spcBef>
              <a:defRPr sz="1200">
                <a:solidFill>
                  <a:srgbClr val="1E1E1E"/>
                </a:solidFill>
              </a:defRPr>
            </a:pPr>
            <a:r>
              <a:t>• slurmdbd 데몬 설정:</a:t>
            </a:r>
          </a:p>
          <a:p>
            <a:pPr>
              <a:spcBef>
                <a:spcPts val="400"/>
              </a:spcBef>
              <a:defRPr sz="1200">
                <a:solidFill>
                  <a:srgbClr val="1E1E1E"/>
                </a:solidFill>
              </a:defRPr>
            </a:pPr>
            <a:r>
              <a:t>  - AccountingStorageType=accounting_storage/slurmdbd</a:t>
            </a:r>
          </a:p>
          <a:p>
            <a:pPr>
              <a:spcBef>
                <a:spcPts val="400"/>
              </a:spcBef>
              <a:defRPr sz="1200">
                <a:solidFill>
                  <a:srgbClr val="1E1E1E"/>
                </a:solidFill>
              </a:defRPr>
            </a:pPr>
            <a:r>
              <a:t>  - /etc/slurm/AzureCA.pem SSL 인증서 다운로드 및 연결</a:t>
            </a:r>
          </a:p>
          <a:p>
            <a:pPr>
              <a:spcBef>
                <a:spcPts val="400"/>
              </a:spcBef>
              <a:defRPr sz="1200">
                <a:solidFill>
                  <a:srgbClr val="1E1E1E"/>
                </a:solidFill>
              </a:defRPr>
            </a:pPr>
            <a:r>
              <a:t>  - sacct 및 sreport 명령으로 유저별/프로젝트별 정산 가능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6217920" y="1280160"/>
            <a:ext cx="5394960" cy="5029200"/>
          </a:xfrm>
          <a:prstGeom prst="roundRect">
            <a:avLst/>
          </a:prstGeom>
          <a:solidFill>
            <a:srgbClr val="EBF0F8"/>
          </a:solidFill>
          <a:ln w="19050">
            <a:solidFill>
              <a:srgbClr val="C8D7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0" rIns="228600" tIns="182880" bIns="182880"/>
          <a:lstStyle/>
          <a:p>
            <a:pPr algn="ctr">
              <a:defRPr sz="1600" b="1">
                <a:solidFill>
                  <a:srgbClr val="0F2240"/>
                </a:solidFill>
              </a:defRPr>
            </a:pPr>
            <a:r>
              <a:t>👤 사용자 및 계정 관리 (User Management)</a:t>
            </a:r>
          </a:p>
          <a:p>
            <a:pPr>
              <a:spcBef>
                <a:spcPts val="400"/>
              </a:spcBef>
              <a:defRPr sz="1200">
                <a:solidFill>
                  <a:srgbClr val="1E1E1E"/>
                </a:solidFill>
              </a:defRPr>
            </a:pPr>
            <a:r>
              <a:t>• CycleCloud 사용자 관리 방식: Built-in 방식 사용 중</a:t>
            </a:r>
          </a:p>
          <a:p>
            <a:pPr>
              <a:spcBef>
                <a:spcPts val="400"/>
              </a:spcBef>
              <a:defRPr sz="1200">
                <a:solidFill>
                  <a:srgbClr val="1E1E1E"/>
                </a:solidFill>
              </a:defRPr>
            </a:pPr>
            <a:r>
              <a:t>• 사용자 생성 및 권한 부여:</a:t>
            </a:r>
          </a:p>
          <a:p>
            <a:pPr>
              <a:spcBef>
                <a:spcPts val="400"/>
              </a:spcBef>
              <a:defRPr sz="1200">
                <a:solidFill>
                  <a:srgbClr val="1E1E1E"/>
                </a:solidFill>
              </a:defRPr>
            </a:pPr>
            <a:r>
              <a:t>  - CycleCloud GUI &gt; Users 탭에서 계정 생성</a:t>
            </a:r>
          </a:p>
          <a:p>
            <a:pPr>
              <a:spcBef>
                <a:spcPts val="400"/>
              </a:spcBef>
              <a:defRPr sz="1200">
                <a:solidFill>
                  <a:srgbClr val="1E1E1E"/>
                </a:solidFill>
              </a:defRPr>
            </a:pPr>
            <a:r>
              <a:t>  - Node Settings: Keypair (pem 파일) 등록으로 노드 SSH 접속</a:t>
            </a:r>
          </a:p>
          <a:p>
            <a:pPr>
              <a:spcBef>
                <a:spcPts val="400"/>
              </a:spcBef>
              <a:defRPr sz="1200">
                <a:solidFill>
                  <a:srgbClr val="1E1E1E"/>
                </a:solidFill>
              </a:defRPr>
            </a:pPr>
            <a:r>
              <a:t>  - Cluster에 Users 추가 시 jetpack 데몬이 노드 OS 계정 자동 생성</a:t>
            </a:r>
          </a:p>
          <a:p>
            <a:pPr>
              <a:spcBef>
                <a:spcPts val="400"/>
              </a:spcBef>
              <a:defRPr sz="1200">
                <a:solidFill>
                  <a:srgbClr val="1E1E1E"/>
                </a:solidFill>
              </a:defRPr>
            </a:pPr>
            <a:r>
              <a:t>  - Sudo 권한 필요 시 sudoers 설정 반영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5F7FA"/>
          </a:solidFill>
          <a:ln>
            <a:solidFill>
              <a:srgbClr val="F5F7F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005840"/>
          </a:xfrm>
          <a:prstGeom prst="rect">
            <a:avLst/>
          </a:prstGeom>
          <a:solidFill>
            <a:srgbClr val="0F2240"/>
          </a:solidFill>
          <a:ln>
            <a:solidFill>
              <a:srgbClr val="0F224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0" tIns="137160"/>
          <a:lstStyle/>
          <a:p>
            <a:pPr algn="ctr">
              <a:defRPr sz="1000" b="1">
                <a:solidFill>
                  <a:srgbClr val="0072CE"/>
                </a:solidFill>
              </a:defRPr>
            </a:pPr>
            <a:r>
              <a:t>AZURE CYCLECLOUD MSP TRAINING &amp; KT STATUS</a:t>
            </a:r>
          </a:p>
          <a:p>
            <a:pPr>
              <a:defRPr sz="2200" b="1">
                <a:solidFill>
                  <a:srgbClr val="FFFFFF"/>
                </a:solidFill>
              </a:defRPr>
            </a:pPr>
            <a:r>
              <a:t>2부. KT 운영 지침 ④: 스토리지 &amp; GPU 모니터링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548640" y="1280160"/>
            <a:ext cx="5303520" cy="5029200"/>
          </a:xfrm>
          <a:prstGeom prst="roundRect">
            <a:avLst/>
          </a:prstGeom>
          <a:solidFill>
            <a:srgbClr val="EBF0F8"/>
          </a:solidFill>
          <a:ln w="19050">
            <a:solidFill>
              <a:srgbClr val="C8D7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0" rIns="228600" tIns="182880" bIns="182880"/>
          <a:lstStyle/>
          <a:p>
            <a:pPr algn="ctr">
              <a:defRPr sz="1600" b="1">
                <a:solidFill>
                  <a:srgbClr val="0F2240"/>
                </a:solidFill>
              </a:defRPr>
            </a:pPr>
            <a:r>
              <a:t>💾 스토리지 &amp; 디스크 마운트 구성</a:t>
            </a:r>
          </a:p>
          <a:p>
            <a:pPr>
              <a:spcBef>
                <a:spcPts val="400"/>
              </a:spcBef>
              <a:defRPr sz="1200">
                <a:solidFill>
                  <a:srgbClr val="1E1E1E"/>
                </a:solidFill>
              </a:defRPr>
            </a:pPr>
            <a:r>
              <a:t>• OS Disk: 노드별 OS Disk 1TB 설정</a:t>
            </a:r>
          </a:p>
          <a:p>
            <a:pPr>
              <a:spcBef>
                <a:spcPts val="400"/>
              </a:spcBef>
              <a:defRPr sz="1200">
                <a:solidFill>
                  <a:srgbClr val="1E1E1E"/>
                </a:solidFill>
              </a:defRPr>
            </a:pPr>
            <a:r>
              <a:t>  - (주의: BootDiskSize 변경 시 노드 전체 Terminate/Start 필요)</a:t>
            </a:r>
          </a:p>
          <a:p>
            <a:pPr>
              <a:spcBef>
                <a:spcPts val="400"/>
              </a:spcBef>
              <a:defRPr sz="1200">
                <a:solidFill>
                  <a:srgbClr val="1E1E1E"/>
                </a:solidFill>
              </a:defRPr>
            </a:pPr>
            <a:r>
              <a:t>• 공유 스토리지 마운트:</a:t>
            </a:r>
          </a:p>
          <a:p>
            <a:pPr>
              <a:spcBef>
                <a:spcPts val="400"/>
              </a:spcBef>
              <a:defRPr sz="1200">
                <a:solidFill>
                  <a:srgbClr val="1E1E1E"/>
                </a:solidFill>
              </a:defRPr>
            </a:pPr>
            <a:r>
              <a:t>  - Blob Storage NFS : 2개 마운트 (데이터 저장)</a:t>
            </a:r>
          </a:p>
          <a:p>
            <a:pPr>
              <a:spcBef>
                <a:spcPts val="400"/>
              </a:spcBef>
              <a:defRPr sz="1200">
                <a:solidFill>
                  <a:srgbClr val="1E1E1E"/>
                </a:solidFill>
              </a:defRPr>
            </a:pPr>
            <a:r>
              <a:t>  - Azure Managed Lustre : 512TB 초고속 고성능 마운트</a:t>
            </a:r>
          </a:p>
          <a:p>
            <a:pPr>
              <a:spcBef>
                <a:spcPts val="400"/>
              </a:spcBef>
              <a:defRPr sz="1200">
                <a:solidFill>
                  <a:srgbClr val="1E1E1E"/>
                </a:solidFill>
              </a:defRPr>
            </a:pPr>
            <a:r>
              <a:t>• Locker Storage: cluster-init 및 클러스터 메타데이터 보관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6217920" y="1280160"/>
            <a:ext cx="5394960" cy="5029200"/>
          </a:xfrm>
          <a:prstGeom prst="roundRect">
            <a:avLst/>
          </a:prstGeom>
          <a:solidFill>
            <a:srgbClr val="EBF0F8"/>
          </a:solidFill>
          <a:ln w="19050">
            <a:solidFill>
              <a:srgbClr val="C8D7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0" rIns="228600" tIns="182880" bIns="182880"/>
          <a:lstStyle/>
          <a:p>
            <a:pPr algn="ctr">
              <a:defRPr sz="1600" b="1">
                <a:solidFill>
                  <a:srgbClr val="0F2240"/>
                </a:solidFill>
              </a:defRPr>
            </a:pPr>
            <a:r>
              <a:t>📈 GPU 모니터링 (Prometheus + Grafana)</a:t>
            </a:r>
          </a:p>
          <a:p>
            <a:pPr>
              <a:spcBef>
                <a:spcPts val="400"/>
              </a:spcBef>
              <a:defRPr sz="1200">
                <a:solidFill>
                  <a:srgbClr val="1E1E1E"/>
                </a:solidFill>
              </a:defRPr>
            </a:pPr>
            <a:r>
              <a:t>• 아키텍처: Node Exporter -&gt; Prometheus -&gt; Azure Managed Prometheus (remote_write) -&gt; Managed Grafana 시각화</a:t>
            </a:r>
          </a:p>
          <a:p>
            <a:pPr>
              <a:spcBef>
                <a:spcPts val="400"/>
              </a:spcBef>
              <a:defRPr sz="1200">
                <a:solidFill>
                  <a:srgbClr val="1E1E1E"/>
                </a:solidFill>
              </a:defRPr>
            </a:pPr>
            <a:r>
              <a:t>• Azure Managed Workspace 활용하여 실시간 GPU 사용률/메모리 감시</a:t>
            </a:r>
          </a:p>
          <a:p>
            <a:pPr>
              <a:spcBef>
                <a:spcPts val="400"/>
              </a:spcBef>
              <a:defRPr sz="1200">
                <a:solidFill>
                  <a:srgbClr val="1E1E1E"/>
                </a:solidFill>
              </a:defRPr>
            </a:pPr>
            <a:r>
              <a:t>• Mexico Region 특이사항:</a:t>
            </a:r>
          </a:p>
          <a:p>
            <a:pPr>
              <a:spcBef>
                <a:spcPts val="400"/>
              </a:spcBef>
              <a:defRPr sz="1200">
                <a:solidFill>
                  <a:srgbClr val="1E1E1E"/>
                </a:solidFill>
              </a:defRPr>
            </a:pPr>
            <a:r>
              <a:t>  - Mexico Region은 Managed Grafana 미지원이므로 타 리전 연결 또는 Self-hosted Grafana 설치 필요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5F7FA"/>
          </a:solidFill>
          <a:ln>
            <a:solidFill>
              <a:srgbClr val="F5F7F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005840"/>
          </a:xfrm>
          <a:prstGeom prst="rect">
            <a:avLst/>
          </a:prstGeom>
          <a:solidFill>
            <a:srgbClr val="0F2240"/>
          </a:solidFill>
          <a:ln>
            <a:solidFill>
              <a:srgbClr val="0F224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0" tIns="137160"/>
          <a:lstStyle/>
          <a:p>
            <a:pPr algn="ctr">
              <a:defRPr sz="1000" b="1">
                <a:solidFill>
                  <a:srgbClr val="0072CE"/>
                </a:solidFill>
              </a:defRPr>
            </a:pPr>
            <a:r>
              <a:t>AZURE CYCLECLOUD MSP TRAINING &amp; KT STATUS</a:t>
            </a:r>
          </a:p>
          <a:p>
            <a:pPr>
              <a:defRPr sz="2200" b="1">
                <a:solidFill>
                  <a:srgbClr val="FFFFFF"/>
                </a:solidFill>
              </a:defRPr>
            </a:pPr>
            <a:r>
              <a:t>3부. MSP 핸즈온 실습 모듈 목차 (Lab Guide)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548640" y="1280160"/>
            <a:ext cx="3474720" cy="5029200"/>
          </a:xfrm>
          <a:prstGeom prst="roundRect">
            <a:avLst/>
          </a:prstGeom>
          <a:solidFill>
            <a:srgbClr val="EBF0F8"/>
          </a:solidFill>
          <a:ln w="19050">
            <a:solidFill>
              <a:srgbClr val="C8D7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0" rIns="228600" tIns="182880" bIns="182880"/>
          <a:lstStyle/>
          <a:p>
            <a:pPr algn="ctr">
              <a:defRPr sz="1600" b="1">
                <a:solidFill>
                  <a:srgbClr val="0F2240"/>
                </a:solidFill>
              </a:defRPr>
            </a:pPr>
            <a:r>
              <a:t>📚 기본 과정 (Module 01~05)</a:t>
            </a:r>
          </a:p>
          <a:p>
            <a:pPr>
              <a:spcBef>
                <a:spcPts val="400"/>
              </a:spcBef>
              <a:defRPr sz="1200">
                <a:solidFill>
                  <a:srgbClr val="1E1E1E"/>
                </a:solidFill>
              </a:defRPr>
            </a:pPr>
            <a:r>
              <a:t>• 01. 환경 개요 및 아키텍처</a:t>
            </a:r>
          </a:p>
          <a:p>
            <a:pPr>
              <a:spcBef>
                <a:spcPts val="400"/>
              </a:spcBef>
              <a:defRPr sz="1200">
                <a:solidFill>
                  <a:srgbClr val="1E1E1E"/>
                </a:solidFill>
              </a:defRPr>
            </a:pPr>
            <a:r>
              <a:t>• 02. CycleCloud 포털 사용 방법</a:t>
            </a:r>
          </a:p>
          <a:p>
            <a:pPr>
              <a:spcBef>
                <a:spcPts val="400"/>
              </a:spcBef>
              <a:defRPr sz="1200">
                <a:solidFill>
                  <a:srgbClr val="1E1E1E"/>
                </a:solidFill>
              </a:defRPr>
            </a:pPr>
            <a:r>
              <a:t>• 03. 최초 클러스터 구축 가이드</a:t>
            </a:r>
          </a:p>
          <a:p>
            <a:pPr>
              <a:spcBef>
                <a:spcPts val="400"/>
              </a:spcBef>
              <a:defRPr sz="1200">
                <a:solidFill>
                  <a:srgbClr val="1E1E1E"/>
                </a:solidFill>
              </a:defRPr>
            </a:pPr>
            <a:r>
              <a:t>• 04. 노드 증/감설 및 사이즈 변경</a:t>
            </a:r>
          </a:p>
          <a:p>
            <a:pPr>
              <a:spcBef>
                <a:spcPts val="400"/>
              </a:spcBef>
              <a:defRPr sz="1200">
                <a:solidFill>
                  <a:srgbClr val="1E1E1E"/>
                </a:solidFill>
              </a:defRPr>
            </a:pPr>
            <a:r>
              <a:t>• 05. 스토리지 계정 &amp; 디스크 마운트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4297680" y="1280160"/>
            <a:ext cx="3474720" cy="5029200"/>
          </a:xfrm>
          <a:prstGeom prst="roundRect">
            <a:avLst/>
          </a:prstGeom>
          <a:solidFill>
            <a:srgbClr val="EBF0F8"/>
          </a:solidFill>
          <a:ln w="19050">
            <a:solidFill>
              <a:srgbClr val="C8D7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0" rIns="228600" tIns="182880" bIns="182880"/>
          <a:lstStyle/>
          <a:p>
            <a:pPr algn="ctr">
              <a:defRPr sz="1600" b="1">
                <a:solidFill>
                  <a:srgbClr val="0F2240"/>
                </a:solidFill>
              </a:defRPr>
            </a:pPr>
            <a:r>
              <a:t>🚀 심화 과정 (Module 06~10)</a:t>
            </a:r>
          </a:p>
          <a:p>
            <a:pPr>
              <a:spcBef>
                <a:spcPts val="400"/>
              </a:spcBef>
              <a:defRPr sz="1200">
                <a:solidFill>
                  <a:srgbClr val="1E1E1E"/>
                </a:solidFill>
              </a:defRPr>
            </a:pPr>
            <a:r>
              <a:t>• 06. cluster-init &amp; 커스텀 스크립트</a:t>
            </a:r>
          </a:p>
          <a:p>
            <a:pPr>
              <a:spcBef>
                <a:spcPts val="400"/>
              </a:spcBef>
              <a:defRPr sz="1200">
                <a:solidFill>
                  <a:srgbClr val="1E1E1E"/>
                </a:solidFill>
              </a:defRPr>
            </a:pPr>
            <a:r>
              <a:t>• 07. Slurm Job Accounting 구축</a:t>
            </a:r>
          </a:p>
          <a:p>
            <a:pPr>
              <a:spcBef>
                <a:spcPts val="400"/>
              </a:spcBef>
              <a:defRPr sz="1200">
                <a:solidFill>
                  <a:srgbClr val="1E1E1E"/>
                </a:solidFill>
              </a:defRPr>
            </a:pPr>
            <a:r>
              <a:t>• 08. Built-in 사용자 및 키페어 관리</a:t>
            </a:r>
          </a:p>
          <a:p>
            <a:pPr>
              <a:spcBef>
                <a:spcPts val="400"/>
              </a:spcBef>
              <a:defRPr sz="1200">
                <a:solidFill>
                  <a:srgbClr val="1E1E1E"/>
                </a:solidFill>
              </a:defRPr>
            </a:pPr>
            <a:r>
              <a:t>• 09. 파티션 관리 및 추가 설정</a:t>
            </a:r>
          </a:p>
          <a:p>
            <a:pPr>
              <a:spcBef>
                <a:spcPts val="400"/>
              </a:spcBef>
              <a:defRPr sz="1200">
                <a:solidFill>
                  <a:srgbClr val="1E1E1E"/>
                </a:solidFill>
              </a:defRPr>
            </a:pPr>
            <a:r>
              <a:t>• 10. Azure Managed GPU 모니터링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8046720" y="1280160"/>
            <a:ext cx="3566160" cy="5029200"/>
          </a:xfrm>
          <a:prstGeom prst="roundRect">
            <a:avLst/>
          </a:prstGeom>
          <a:solidFill>
            <a:srgbClr val="EBF0F8"/>
          </a:solidFill>
          <a:ln w="19050">
            <a:solidFill>
              <a:srgbClr val="C8D7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0" rIns="228600" tIns="182880" bIns="182880"/>
          <a:lstStyle/>
          <a:p>
            <a:pPr algn="ctr">
              <a:defRPr sz="1600" b="1">
                <a:solidFill>
                  <a:srgbClr val="0F2240"/>
                </a:solidFill>
              </a:defRPr>
            </a:pPr>
            <a:r>
              <a:t>🔧 운용 및 런북 (Module 11~12)</a:t>
            </a:r>
          </a:p>
          <a:p>
            <a:pPr>
              <a:spcBef>
                <a:spcPts val="400"/>
              </a:spcBef>
              <a:defRPr sz="1200">
                <a:solidFill>
                  <a:srgbClr val="1E1E1E"/>
                </a:solidFill>
              </a:defRPr>
            </a:pPr>
            <a:r>
              <a:t>• 11. 트러블슈팅 &amp; 로그 진단</a:t>
            </a:r>
          </a:p>
          <a:p>
            <a:pPr>
              <a:spcBef>
                <a:spcPts val="400"/>
              </a:spcBef>
              <a:defRPr sz="1200">
                <a:solidFill>
                  <a:srgbClr val="1E1E1E"/>
                </a:solidFill>
              </a:defRPr>
            </a:pPr>
            <a:r>
              <a:t>  - cycle_server.log 분석</a:t>
            </a:r>
          </a:p>
          <a:p>
            <a:pPr>
              <a:spcBef>
                <a:spcPts val="400"/>
              </a:spcBef>
              <a:defRPr sz="1200">
                <a:solidFill>
                  <a:srgbClr val="1E1E1E"/>
                </a:solidFill>
              </a:defRPr>
            </a:pPr>
            <a:r>
              <a:t>  - jetpack.log &amp; cloud-init 진단</a:t>
            </a:r>
          </a:p>
          <a:p>
            <a:pPr>
              <a:spcBef>
                <a:spcPts val="400"/>
              </a:spcBef>
              <a:defRPr sz="1200">
                <a:solidFill>
                  <a:srgbClr val="1E1E1E"/>
                </a:solidFill>
              </a:defRPr>
            </a:pPr>
            <a:r>
              <a:t>  - az vm run-command 활용</a:t>
            </a:r>
          </a:p>
          <a:p>
            <a:pPr>
              <a:spcBef>
                <a:spcPts val="400"/>
              </a:spcBef>
              <a:defRPr sz="1200">
                <a:solidFill>
                  <a:srgbClr val="1E1E1E"/>
                </a:solidFill>
              </a:defRPr>
            </a:pPr>
            <a:r>
              <a:t>• 12. 데모 런북 (진행자 체크리스트)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