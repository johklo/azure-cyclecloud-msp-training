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147481862" r:id="rId2"/>
    <p:sldId id="264" r:id="rId3"/>
    <p:sldId id="266" r:id="rId4"/>
    <p:sldId id="261" r:id="rId5"/>
    <p:sldId id="262" r:id="rId6"/>
    <p:sldId id="256" r:id="rId7"/>
    <p:sldId id="259" r:id="rId8"/>
    <p:sldId id="263" r:id="rId9"/>
    <p:sldId id="258" r:id="rId10"/>
    <p:sldId id="265" r:id="rId11"/>
    <p:sldId id="2147481863"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BEDC5C-38D8-4A1B-8CFC-9002122DDBA7}" v="60" dt="2025-05-19T05:33:48.7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p:scale>
          <a:sx n="67" d="100"/>
          <a:sy n="67" d="100"/>
        </p:scale>
        <p:origin x="560" y="20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DD1C95-FD03-488E-AB78-9EB2A2ED75DE}" type="datetimeFigureOut">
              <a:rPr lang="en-US" smtClean="0"/>
              <a:t>9/1/2025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EF3652-2512-4488-AF2B-EC9B20DB51FF}" type="slidenum">
              <a:rPr lang="en-US" smtClean="0"/>
              <a:t>‹#›</a:t>
            </a:fld>
            <a:endParaRPr lang="en-US"/>
          </a:p>
        </p:txBody>
      </p:sp>
    </p:spTree>
    <p:extLst>
      <p:ext uri="{BB962C8B-B14F-4D97-AF65-F5344CB8AC3E}">
        <p14:creationId xmlns:p14="http://schemas.microsoft.com/office/powerpoint/2010/main" val="1233417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F52261-FA4A-4EFE-85C2-0F05BE354D35}" type="slidenum">
              <a:rPr lang="en-US" smtClean="0"/>
              <a:t>1</a:t>
            </a:fld>
            <a:endParaRPr lang="en-US"/>
          </a:p>
        </p:txBody>
      </p:sp>
    </p:spTree>
    <p:extLst>
      <p:ext uri="{BB962C8B-B14F-4D97-AF65-F5344CB8AC3E}">
        <p14:creationId xmlns:p14="http://schemas.microsoft.com/office/powerpoint/2010/main" val="1769277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B4F5E-4087-3F30-BDF4-891B4F03D2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924788-E8D2-774F-1E14-EC42BE93A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BE9AE5-5BF2-9420-D185-D422A737F293}"/>
              </a:ext>
            </a:extLst>
          </p:cNvPr>
          <p:cNvSpPr>
            <a:spLocks noGrp="1"/>
          </p:cNvSpPr>
          <p:nvPr>
            <p:ph type="dt" sz="half" idx="10"/>
          </p:nvPr>
        </p:nvSpPr>
        <p:spPr/>
        <p:txBody>
          <a:bodyPr/>
          <a:lstStyle/>
          <a:p>
            <a:fld id="{395401E1-FAB4-4B36-9B94-6E7BF3794ABA}" type="datetimeFigureOut">
              <a:rPr lang="en-US" smtClean="0"/>
              <a:t>9/1/2025</a:t>
            </a:fld>
            <a:endParaRPr lang="en-US"/>
          </a:p>
        </p:txBody>
      </p:sp>
      <p:sp>
        <p:nvSpPr>
          <p:cNvPr id="5" name="Footer Placeholder 4">
            <a:extLst>
              <a:ext uri="{FF2B5EF4-FFF2-40B4-BE49-F238E27FC236}">
                <a16:creationId xmlns:a16="http://schemas.microsoft.com/office/drawing/2014/main" id="{08F541A8-1D68-9615-659B-16CB5AA5F3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A060C5-8F76-EB74-6E42-E3269E8F4522}"/>
              </a:ext>
            </a:extLst>
          </p:cNvPr>
          <p:cNvSpPr>
            <a:spLocks noGrp="1"/>
          </p:cNvSpPr>
          <p:nvPr>
            <p:ph type="sldNum" sz="quarter" idx="12"/>
          </p:nvPr>
        </p:nvSpPr>
        <p:spPr/>
        <p:txBody>
          <a:bodyPr/>
          <a:lstStyle/>
          <a:p>
            <a:fld id="{678B9D32-0D18-486C-931C-342A3C94E373}" type="slidenum">
              <a:rPr lang="en-US" smtClean="0"/>
              <a:t>‹#›</a:t>
            </a:fld>
            <a:endParaRPr lang="en-US"/>
          </a:p>
        </p:txBody>
      </p:sp>
    </p:spTree>
    <p:extLst>
      <p:ext uri="{BB962C8B-B14F-4D97-AF65-F5344CB8AC3E}">
        <p14:creationId xmlns:p14="http://schemas.microsoft.com/office/powerpoint/2010/main" val="2784378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95D0E-5027-6042-AB45-7608C03D91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2AF229-1F7E-F108-3768-4630EBBA63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BB1F17-FEA1-E46B-438D-6320C3E9E75D}"/>
              </a:ext>
            </a:extLst>
          </p:cNvPr>
          <p:cNvSpPr>
            <a:spLocks noGrp="1"/>
          </p:cNvSpPr>
          <p:nvPr>
            <p:ph type="dt" sz="half" idx="10"/>
          </p:nvPr>
        </p:nvSpPr>
        <p:spPr/>
        <p:txBody>
          <a:bodyPr/>
          <a:lstStyle/>
          <a:p>
            <a:fld id="{395401E1-FAB4-4B36-9B94-6E7BF3794ABA}" type="datetimeFigureOut">
              <a:rPr lang="en-US" smtClean="0"/>
              <a:t>9/1/2025</a:t>
            </a:fld>
            <a:endParaRPr lang="en-US"/>
          </a:p>
        </p:txBody>
      </p:sp>
      <p:sp>
        <p:nvSpPr>
          <p:cNvPr id="5" name="Footer Placeholder 4">
            <a:extLst>
              <a:ext uri="{FF2B5EF4-FFF2-40B4-BE49-F238E27FC236}">
                <a16:creationId xmlns:a16="http://schemas.microsoft.com/office/drawing/2014/main" id="{CB617C1F-D528-56F2-3653-500A578559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D2D54D-A465-BB6A-7D36-5303EEF2DD10}"/>
              </a:ext>
            </a:extLst>
          </p:cNvPr>
          <p:cNvSpPr>
            <a:spLocks noGrp="1"/>
          </p:cNvSpPr>
          <p:nvPr>
            <p:ph type="sldNum" sz="quarter" idx="12"/>
          </p:nvPr>
        </p:nvSpPr>
        <p:spPr/>
        <p:txBody>
          <a:bodyPr/>
          <a:lstStyle/>
          <a:p>
            <a:fld id="{678B9D32-0D18-486C-931C-342A3C94E373}" type="slidenum">
              <a:rPr lang="en-US" smtClean="0"/>
              <a:t>‹#›</a:t>
            </a:fld>
            <a:endParaRPr lang="en-US"/>
          </a:p>
        </p:txBody>
      </p:sp>
    </p:spTree>
    <p:extLst>
      <p:ext uri="{BB962C8B-B14F-4D97-AF65-F5344CB8AC3E}">
        <p14:creationId xmlns:p14="http://schemas.microsoft.com/office/powerpoint/2010/main" val="2712720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1F9F7-15BF-9FB9-2FBA-2E208A8B04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4B3D68-6BDB-AEE5-9ED6-F40E15CD192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DC6E8A-7F8C-9B0E-03ED-9D1271BF4E68}"/>
              </a:ext>
            </a:extLst>
          </p:cNvPr>
          <p:cNvSpPr>
            <a:spLocks noGrp="1"/>
          </p:cNvSpPr>
          <p:nvPr>
            <p:ph type="dt" sz="half" idx="10"/>
          </p:nvPr>
        </p:nvSpPr>
        <p:spPr/>
        <p:txBody>
          <a:bodyPr/>
          <a:lstStyle/>
          <a:p>
            <a:fld id="{395401E1-FAB4-4B36-9B94-6E7BF3794ABA}" type="datetimeFigureOut">
              <a:rPr lang="en-US" smtClean="0"/>
              <a:t>9/1/2025</a:t>
            </a:fld>
            <a:endParaRPr lang="en-US"/>
          </a:p>
        </p:txBody>
      </p:sp>
      <p:sp>
        <p:nvSpPr>
          <p:cNvPr id="5" name="Footer Placeholder 4">
            <a:extLst>
              <a:ext uri="{FF2B5EF4-FFF2-40B4-BE49-F238E27FC236}">
                <a16:creationId xmlns:a16="http://schemas.microsoft.com/office/drawing/2014/main" id="{5A745E82-45C1-A4B8-8DC7-5259AFE9ED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D89F2F-C91E-6473-35AA-924C740C9145}"/>
              </a:ext>
            </a:extLst>
          </p:cNvPr>
          <p:cNvSpPr>
            <a:spLocks noGrp="1"/>
          </p:cNvSpPr>
          <p:nvPr>
            <p:ph type="sldNum" sz="quarter" idx="12"/>
          </p:nvPr>
        </p:nvSpPr>
        <p:spPr/>
        <p:txBody>
          <a:bodyPr/>
          <a:lstStyle/>
          <a:p>
            <a:fld id="{678B9D32-0D18-486C-931C-342A3C94E373}" type="slidenum">
              <a:rPr lang="en-US" smtClean="0"/>
              <a:t>‹#›</a:t>
            </a:fld>
            <a:endParaRPr lang="en-US"/>
          </a:p>
        </p:txBody>
      </p:sp>
    </p:spTree>
    <p:extLst>
      <p:ext uri="{BB962C8B-B14F-4D97-AF65-F5344CB8AC3E}">
        <p14:creationId xmlns:p14="http://schemas.microsoft.com/office/powerpoint/2010/main" val="1479108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1D372-8417-46CA-9519-5045717ABE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C12505-4E47-4481-E731-3E03DAF5D9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3C0A7D-E34A-43E6-24FA-252CBD2819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5C6E81-490A-8DBF-3870-8CD9E386BC42}"/>
              </a:ext>
            </a:extLst>
          </p:cNvPr>
          <p:cNvSpPr>
            <a:spLocks noGrp="1"/>
          </p:cNvSpPr>
          <p:nvPr>
            <p:ph type="dt" sz="half" idx="10"/>
          </p:nvPr>
        </p:nvSpPr>
        <p:spPr/>
        <p:txBody>
          <a:bodyPr/>
          <a:lstStyle/>
          <a:p>
            <a:fld id="{395401E1-FAB4-4B36-9B94-6E7BF3794ABA}" type="datetimeFigureOut">
              <a:rPr lang="en-US" smtClean="0"/>
              <a:t>9/1/2025</a:t>
            </a:fld>
            <a:endParaRPr lang="en-US"/>
          </a:p>
        </p:txBody>
      </p:sp>
      <p:sp>
        <p:nvSpPr>
          <p:cNvPr id="6" name="Footer Placeholder 5">
            <a:extLst>
              <a:ext uri="{FF2B5EF4-FFF2-40B4-BE49-F238E27FC236}">
                <a16:creationId xmlns:a16="http://schemas.microsoft.com/office/drawing/2014/main" id="{BBBF594A-4FCD-0D28-7729-D8DC01D50F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43CC2C-DC6B-6D35-E2C5-9FBEEBEDF4B1}"/>
              </a:ext>
            </a:extLst>
          </p:cNvPr>
          <p:cNvSpPr>
            <a:spLocks noGrp="1"/>
          </p:cNvSpPr>
          <p:nvPr>
            <p:ph type="sldNum" sz="quarter" idx="12"/>
          </p:nvPr>
        </p:nvSpPr>
        <p:spPr/>
        <p:txBody>
          <a:bodyPr/>
          <a:lstStyle/>
          <a:p>
            <a:fld id="{678B9D32-0D18-486C-931C-342A3C94E373}" type="slidenum">
              <a:rPr lang="en-US" smtClean="0"/>
              <a:t>‹#›</a:t>
            </a:fld>
            <a:endParaRPr lang="en-US"/>
          </a:p>
        </p:txBody>
      </p:sp>
    </p:spTree>
    <p:extLst>
      <p:ext uri="{BB962C8B-B14F-4D97-AF65-F5344CB8AC3E}">
        <p14:creationId xmlns:p14="http://schemas.microsoft.com/office/powerpoint/2010/main" val="577832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358DA-127F-BEE1-156E-C4E55E5DF2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9B3199-74DD-1685-82FF-A6421C1150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F24943-F932-D7D8-E4FB-E94CB4194A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CE635A-22CC-FD33-3538-B8F0CA6E97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D39408-BB52-86C7-8D39-BECB52AE6F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DB80EA-34B5-858E-6A0E-5A3125FA9997}"/>
              </a:ext>
            </a:extLst>
          </p:cNvPr>
          <p:cNvSpPr>
            <a:spLocks noGrp="1"/>
          </p:cNvSpPr>
          <p:nvPr>
            <p:ph type="dt" sz="half" idx="10"/>
          </p:nvPr>
        </p:nvSpPr>
        <p:spPr/>
        <p:txBody>
          <a:bodyPr/>
          <a:lstStyle/>
          <a:p>
            <a:fld id="{395401E1-FAB4-4B36-9B94-6E7BF3794ABA}" type="datetimeFigureOut">
              <a:rPr lang="en-US" smtClean="0"/>
              <a:t>9/1/2025</a:t>
            </a:fld>
            <a:endParaRPr lang="en-US"/>
          </a:p>
        </p:txBody>
      </p:sp>
      <p:sp>
        <p:nvSpPr>
          <p:cNvPr id="8" name="Footer Placeholder 7">
            <a:extLst>
              <a:ext uri="{FF2B5EF4-FFF2-40B4-BE49-F238E27FC236}">
                <a16:creationId xmlns:a16="http://schemas.microsoft.com/office/drawing/2014/main" id="{C66A6D87-05B4-C716-E863-33C4C8856C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3D60A1E-7355-6B24-30AE-3F61C030E5C4}"/>
              </a:ext>
            </a:extLst>
          </p:cNvPr>
          <p:cNvSpPr>
            <a:spLocks noGrp="1"/>
          </p:cNvSpPr>
          <p:nvPr>
            <p:ph type="sldNum" sz="quarter" idx="12"/>
          </p:nvPr>
        </p:nvSpPr>
        <p:spPr/>
        <p:txBody>
          <a:bodyPr/>
          <a:lstStyle/>
          <a:p>
            <a:fld id="{678B9D32-0D18-486C-931C-342A3C94E373}" type="slidenum">
              <a:rPr lang="en-US" smtClean="0"/>
              <a:t>‹#›</a:t>
            </a:fld>
            <a:endParaRPr lang="en-US"/>
          </a:p>
        </p:txBody>
      </p:sp>
    </p:spTree>
    <p:extLst>
      <p:ext uri="{BB962C8B-B14F-4D97-AF65-F5344CB8AC3E}">
        <p14:creationId xmlns:p14="http://schemas.microsoft.com/office/powerpoint/2010/main" val="2262878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F5D4F-B974-8732-9CAD-ADCC38A736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76A1EC-80C5-2D15-C586-43F5EE90BF54}"/>
              </a:ext>
            </a:extLst>
          </p:cNvPr>
          <p:cNvSpPr>
            <a:spLocks noGrp="1"/>
          </p:cNvSpPr>
          <p:nvPr>
            <p:ph type="dt" sz="half" idx="10"/>
          </p:nvPr>
        </p:nvSpPr>
        <p:spPr/>
        <p:txBody>
          <a:bodyPr/>
          <a:lstStyle/>
          <a:p>
            <a:fld id="{395401E1-FAB4-4B36-9B94-6E7BF3794ABA}" type="datetimeFigureOut">
              <a:rPr lang="en-US" smtClean="0"/>
              <a:t>9/1/2025</a:t>
            </a:fld>
            <a:endParaRPr lang="en-US"/>
          </a:p>
        </p:txBody>
      </p:sp>
      <p:sp>
        <p:nvSpPr>
          <p:cNvPr id="4" name="Footer Placeholder 3">
            <a:extLst>
              <a:ext uri="{FF2B5EF4-FFF2-40B4-BE49-F238E27FC236}">
                <a16:creationId xmlns:a16="http://schemas.microsoft.com/office/drawing/2014/main" id="{A1901B6A-E7B8-4504-5C09-09C97E63FF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08BAA15-B277-7674-A414-EF897AFBAEE7}"/>
              </a:ext>
            </a:extLst>
          </p:cNvPr>
          <p:cNvSpPr>
            <a:spLocks noGrp="1"/>
          </p:cNvSpPr>
          <p:nvPr>
            <p:ph type="sldNum" sz="quarter" idx="12"/>
          </p:nvPr>
        </p:nvSpPr>
        <p:spPr/>
        <p:txBody>
          <a:bodyPr/>
          <a:lstStyle/>
          <a:p>
            <a:fld id="{678B9D32-0D18-486C-931C-342A3C94E373}" type="slidenum">
              <a:rPr lang="en-US" smtClean="0"/>
              <a:t>‹#›</a:t>
            </a:fld>
            <a:endParaRPr lang="en-US"/>
          </a:p>
        </p:txBody>
      </p:sp>
    </p:spTree>
    <p:extLst>
      <p:ext uri="{BB962C8B-B14F-4D97-AF65-F5344CB8AC3E}">
        <p14:creationId xmlns:p14="http://schemas.microsoft.com/office/powerpoint/2010/main" val="4013775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666B41-F088-7536-74D3-45D75A12730E}"/>
              </a:ext>
            </a:extLst>
          </p:cNvPr>
          <p:cNvSpPr>
            <a:spLocks noGrp="1"/>
          </p:cNvSpPr>
          <p:nvPr>
            <p:ph type="dt" sz="half" idx="10"/>
          </p:nvPr>
        </p:nvSpPr>
        <p:spPr/>
        <p:txBody>
          <a:bodyPr/>
          <a:lstStyle/>
          <a:p>
            <a:fld id="{395401E1-FAB4-4B36-9B94-6E7BF3794ABA}" type="datetimeFigureOut">
              <a:rPr lang="en-US" smtClean="0"/>
              <a:t>9/1/2025</a:t>
            </a:fld>
            <a:endParaRPr lang="en-US"/>
          </a:p>
        </p:txBody>
      </p:sp>
      <p:sp>
        <p:nvSpPr>
          <p:cNvPr id="3" name="Footer Placeholder 2">
            <a:extLst>
              <a:ext uri="{FF2B5EF4-FFF2-40B4-BE49-F238E27FC236}">
                <a16:creationId xmlns:a16="http://schemas.microsoft.com/office/drawing/2014/main" id="{88378CEF-2AC7-E4F5-0FF2-520140A55F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2D412E5-A017-A88B-47D3-BA79758BFA7B}"/>
              </a:ext>
            </a:extLst>
          </p:cNvPr>
          <p:cNvSpPr>
            <a:spLocks noGrp="1"/>
          </p:cNvSpPr>
          <p:nvPr>
            <p:ph type="sldNum" sz="quarter" idx="12"/>
          </p:nvPr>
        </p:nvSpPr>
        <p:spPr/>
        <p:txBody>
          <a:bodyPr/>
          <a:lstStyle/>
          <a:p>
            <a:fld id="{678B9D32-0D18-486C-931C-342A3C94E373}" type="slidenum">
              <a:rPr lang="en-US" smtClean="0"/>
              <a:t>‹#›</a:t>
            </a:fld>
            <a:endParaRPr lang="en-US"/>
          </a:p>
        </p:txBody>
      </p:sp>
    </p:spTree>
    <p:extLst>
      <p:ext uri="{BB962C8B-B14F-4D97-AF65-F5344CB8AC3E}">
        <p14:creationId xmlns:p14="http://schemas.microsoft.com/office/powerpoint/2010/main" val="1802582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1E7E4-D077-00C2-07EB-58E449DEE4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63BF7A-C4A1-F0AD-2620-5EFE8EE231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D57659-4E48-BF1D-71B4-6F32A3811F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09D4C4-A962-2976-59D1-A6EA78AA1899}"/>
              </a:ext>
            </a:extLst>
          </p:cNvPr>
          <p:cNvSpPr>
            <a:spLocks noGrp="1"/>
          </p:cNvSpPr>
          <p:nvPr>
            <p:ph type="dt" sz="half" idx="10"/>
          </p:nvPr>
        </p:nvSpPr>
        <p:spPr/>
        <p:txBody>
          <a:bodyPr/>
          <a:lstStyle/>
          <a:p>
            <a:fld id="{395401E1-FAB4-4B36-9B94-6E7BF3794ABA}" type="datetimeFigureOut">
              <a:rPr lang="en-US" smtClean="0"/>
              <a:t>9/1/2025</a:t>
            </a:fld>
            <a:endParaRPr lang="en-US"/>
          </a:p>
        </p:txBody>
      </p:sp>
      <p:sp>
        <p:nvSpPr>
          <p:cNvPr id="6" name="Footer Placeholder 5">
            <a:extLst>
              <a:ext uri="{FF2B5EF4-FFF2-40B4-BE49-F238E27FC236}">
                <a16:creationId xmlns:a16="http://schemas.microsoft.com/office/drawing/2014/main" id="{3C76F9CE-4DC3-1133-35B4-64E8C0AF4A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5FEA96-C69A-E104-4E86-E5D29346BCA5}"/>
              </a:ext>
            </a:extLst>
          </p:cNvPr>
          <p:cNvSpPr>
            <a:spLocks noGrp="1"/>
          </p:cNvSpPr>
          <p:nvPr>
            <p:ph type="sldNum" sz="quarter" idx="12"/>
          </p:nvPr>
        </p:nvSpPr>
        <p:spPr/>
        <p:txBody>
          <a:bodyPr/>
          <a:lstStyle/>
          <a:p>
            <a:fld id="{678B9D32-0D18-486C-931C-342A3C94E373}" type="slidenum">
              <a:rPr lang="en-US" smtClean="0"/>
              <a:t>‹#›</a:t>
            </a:fld>
            <a:endParaRPr lang="en-US"/>
          </a:p>
        </p:txBody>
      </p:sp>
    </p:spTree>
    <p:extLst>
      <p:ext uri="{BB962C8B-B14F-4D97-AF65-F5344CB8AC3E}">
        <p14:creationId xmlns:p14="http://schemas.microsoft.com/office/powerpoint/2010/main" val="963591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8FC48-EB5A-BA92-2A6E-C4143D155B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09373C-FB8A-D514-BECB-BB9F9A5DA9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92264AE-BDED-53AC-1A3E-8D123618DD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97A047-2B3F-E558-5E38-B6A04C95DB57}"/>
              </a:ext>
            </a:extLst>
          </p:cNvPr>
          <p:cNvSpPr>
            <a:spLocks noGrp="1"/>
          </p:cNvSpPr>
          <p:nvPr>
            <p:ph type="dt" sz="half" idx="10"/>
          </p:nvPr>
        </p:nvSpPr>
        <p:spPr/>
        <p:txBody>
          <a:bodyPr/>
          <a:lstStyle/>
          <a:p>
            <a:fld id="{395401E1-FAB4-4B36-9B94-6E7BF3794ABA}" type="datetimeFigureOut">
              <a:rPr lang="en-US" smtClean="0"/>
              <a:t>9/1/2025</a:t>
            </a:fld>
            <a:endParaRPr lang="en-US"/>
          </a:p>
        </p:txBody>
      </p:sp>
      <p:sp>
        <p:nvSpPr>
          <p:cNvPr id="6" name="Footer Placeholder 5">
            <a:extLst>
              <a:ext uri="{FF2B5EF4-FFF2-40B4-BE49-F238E27FC236}">
                <a16:creationId xmlns:a16="http://schemas.microsoft.com/office/drawing/2014/main" id="{5BF7AB52-D506-DC18-327F-514D257A63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0BF384-8BD4-980B-B321-7CDAAE10C02B}"/>
              </a:ext>
            </a:extLst>
          </p:cNvPr>
          <p:cNvSpPr>
            <a:spLocks noGrp="1"/>
          </p:cNvSpPr>
          <p:nvPr>
            <p:ph type="sldNum" sz="quarter" idx="12"/>
          </p:nvPr>
        </p:nvSpPr>
        <p:spPr/>
        <p:txBody>
          <a:bodyPr/>
          <a:lstStyle/>
          <a:p>
            <a:fld id="{678B9D32-0D18-486C-931C-342A3C94E373}" type="slidenum">
              <a:rPr lang="en-US" smtClean="0"/>
              <a:t>‹#›</a:t>
            </a:fld>
            <a:endParaRPr lang="en-US"/>
          </a:p>
        </p:txBody>
      </p:sp>
    </p:spTree>
    <p:extLst>
      <p:ext uri="{BB962C8B-B14F-4D97-AF65-F5344CB8AC3E}">
        <p14:creationId xmlns:p14="http://schemas.microsoft.com/office/powerpoint/2010/main" val="3269198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82B7-6B58-C50E-56F3-E8F90B9B59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6B9965-9022-D345-E274-C15D852A78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FB367E-B6E7-D445-FD44-D62F51EEF49F}"/>
              </a:ext>
            </a:extLst>
          </p:cNvPr>
          <p:cNvSpPr>
            <a:spLocks noGrp="1"/>
          </p:cNvSpPr>
          <p:nvPr>
            <p:ph type="dt" sz="half" idx="10"/>
          </p:nvPr>
        </p:nvSpPr>
        <p:spPr/>
        <p:txBody>
          <a:bodyPr/>
          <a:lstStyle/>
          <a:p>
            <a:fld id="{395401E1-FAB4-4B36-9B94-6E7BF3794ABA}" type="datetimeFigureOut">
              <a:rPr lang="en-US" smtClean="0"/>
              <a:t>9/1/2025</a:t>
            </a:fld>
            <a:endParaRPr lang="en-US"/>
          </a:p>
        </p:txBody>
      </p:sp>
      <p:sp>
        <p:nvSpPr>
          <p:cNvPr id="5" name="Footer Placeholder 4">
            <a:extLst>
              <a:ext uri="{FF2B5EF4-FFF2-40B4-BE49-F238E27FC236}">
                <a16:creationId xmlns:a16="http://schemas.microsoft.com/office/drawing/2014/main" id="{058B1626-1CA4-4180-C0D6-0AE9BFD20C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7A8CB4-81F9-D058-A6A1-4E50A4A779C1}"/>
              </a:ext>
            </a:extLst>
          </p:cNvPr>
          <p:cNvSpPr>
            <a:spLocks noGrp="1"/>
          </p:cNvSpPr>
          <p:nvPr>
            <p:ph type="sldNum" sz="quarter" idx="12"/>
          </p:nvPr>
        </p:nvSpPr>
        <p:spPr/>
        <p:txBody>
          <a:bodyPr/>
          <a:lstStyle/>
          <a:p>
            <a:fld id="{678B9D32-0D18-486C-931C-342A3C94E373}" type="slidenum">
              <a:rPr lang="en-US" smtClean="0"/>
              <a:t>‹#›</a:t>
            </a:fld>
            <a:endParaRPr lang="en-US"/>
          </a:p>
        </p:txBody>
      </p:sp>
    </p:spTree>
    <p:extLst>
      <p:ext uri="{BB962C8B-B14F-4D97-AF65-F5344CB8AC3E}">
        <p14:creationId xmlns:p14="http://schemas.microsoft.com/office/powerpoint/2010/main" val="3862465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F5333E-A353-981D-8A6D-BD80889E4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770405-2815-7A9C-12D5-3F67D3B91B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0B2105-4746-3ED4-0CEA-DC41A1DB0609}"/>
              </a:ext>
            </a:extLst>
          </p:cNvPr>
          <p:cNvSpPr>
            <a:spLocks noGrp="1"/>
          </p:cNvSpPr>
          <p:nvPr>
            <p:ph type="dt" sz="half" idx="10"/>
          </p:nvPr>
        </p:nvSpPr>
        <p:spPr/>
        <p:txBody>
          <a:bodyPr/>
          <a:lstStyle/>
          <a:p>
            <a:fld id="{395401E1-FAB4-4B36-9B94-6E7BF3794ABA}" type="datetimeFigureOut">
              <a:rPr lang="en-US" smtClean="0"/>
              <a:t>9/1/2025</a:t>
            </a:fld>
            <a:endParaRPr lang="en-US"/>
          </a:p>
        </p:txBody>
      </p:sp>
      <p:sp>
        <p:nvSpPr>
          <p:cNvPr id="5" name="Footer Placeholder 4">
            <a:extLst>
              <a:ext uri="{FF2B5EF4-FFF2-40B4-BE49-F238E27FC236}">
                <a16:creationId xmlns:a16="http://schemas.microsoft.com/office/drawing/2014/main" id="{892332A1-6B7B-7DC0-861E-99EDE2DB2F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4F2BEB-F53E-8B1F-0EFC-96534D75553D}"/>
              </a:ext>
            </a:extLst>
          </p:cNvPr>
          <p:cNvSpPr>
            <a:spLocks noGrp="1"/>
          </p:cNvSpPr>
          <p:nvPr>
            <p:ph type="sldNum" sz="quarter" idx="12"/>
          </p:nvPr>
        </p:nvSpPr>
        <p:spPr/>
        <p:txBody>
          <a:bodyPr/>
          <a:lstStyle/>
          <a:p>
            <a:fld id="{678B9D32-0D18-486C-931C-342A3C94E373}" type="slidenum">
              <a:rPr lang="en-US" smtClean="0"/>
              <a:t>‹#›</a:t>
            </a:fld>
            <a:endParaRPr lang="en-US"/>
          </a:p>
        </p:txBody>
      </p:sp>
    </p:spTree>
    <p:extLst>
      <p:ext uri="{BB962C8B-B14F-4D97-AF65-F5344CB8AC3E}">
        <p14:creationId xmlns:p14="http://schemas.microsoft.com/office/powerpoint/2010/main" val="196885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Only">
    <p:bg>
      <p:bgPr>
        <a:solidFill>
          <a:srgbClr val="FFF8F3">
            <a:alpha val="25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227394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9B3C52-556E-B1D0-2EDA-C4CFC0A12E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BAEE7D-DA98-B1DB-BC58-9A36091D48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18F1BF-119E-1C5B-035A-69B7305F93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5401E1-FAB4-4B36-9B94-6E7BF3794ABA}" type="datetimeFigureOut">
              <a:rPr lang="en-US" smtClean="0"/>
              <a:t>9/1/2025</a:t>
            </a:fld>
            <a:endParaRPr lang="en-US"/>
          </a:p>
        </p:txBody>
      </p:sp>
      <p:sp>
        <p:nvSpPr>
          <p:cNvPr id="5" name="Footer Placeholder 4">
            <a:extLst>
              <a:ext uri="{FF2B5EF4-FFF2-40B4-BE49-F238E27FC236}">
                <a16:creationId xmlns:a16="http://schemas.microsoft.com/office/drawing/2014/main" id="{C442CE67-FB81-2677-B0C4-87E9AB64FA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B65ACF8-0D66-D208-5F3F-5204F76B50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8B9D32-0D18-486C-931C-342A3C94E373}" type="slidenum">
              <a:rPr lang="en-US" smtClean="0"/>
              <a:t>‹#›</a:t>
            </a:fld>
            <a:endParaRPr lang="en-US"/>
          </a:p>
        </p:txBody>
      </p:sp>
    </p:spTree>
    <p:extLst>
      <p:ext uri="{BB962C8B-B14F-4D97-AF65-F5344CB8AC3E}">
        <p14:creationId xmlns:p14="http://schemas.microsoft.com/office/powerpoint/2010/main" val="4110181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learn.microsoft.com/en-us/azure/azure-monitor/fundamentals/overview" TargetMode="External"/><Relationship Id="rId2" Type="http://schemas.openxmlformats.org/officeDocument/2006/relationships/hyperlink" Target="https://www.influxdata.com/time-series-platform/telegraf/" TargetMode="External"/><Relationship Id="rId1" Type="http://schemas.openxmlformats.org/officeDocument/2006/relationships/slideLayout" Target="../slideLayouts/slideLayout7.xml"/><Relationship Id="rId4" Type="http://schemas.openxmlformats.org/officeDocument/2006/relationships/hyperlink" Target="https://techcommunity.microsoft.com/blog/azurehighperformancecomputingblog/monitoring-hpc--ai-workloads-on-azure-hn-vms-using-telegraf-and-azure-monitor-gp/440732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bstract background with network pattern">
            <a:extLst>
              <a:ext uri="{FF2B5EF4-FFF2-40B4-BE49-F238E27FC236}">
                <a16:creationId xmlns:a16="http://schemas.microsoft.com/office/drawing/2014/main" id="{608A82A4-8066-3E60-0744-44F2E677E9E3}"/>
              </a:ext>
            </a:extLst>
          </p:cNvPr>
          <p:cNvPicPr>
            <a:picLocks noChangeAspect="1"/>
          </p:cNvPicPr>
          <p:nvPr/>
        </p:nvPicPr>
        <p:blipFill rotWithShape="1">
          <a:blip r:embed="rId3">
            <a:extLst>
              <a:ext uri="{28A0092B-C50C-407E-A947-70E740481C1C}">
                <a14:useLocalDpi xmlns:a14="http://schemas.microsoft.com/office/drawing/2010/main" val="0"/>
              </a:ext>
            </a:extLst>
          </a:blip>
          <a:srcRect b="15476"/>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93F78576-491B-A37D-13B7-0BBB543B3518}"/>
              </a:ext>
            </a:extLst>
          </p:cNvPr>
          <p:cNvSpPr>
            <a:spLocks noGrp="1"/>
          </p:cNvSpPr>
          <p:nvPr>
            <p:ph type="title"/>
          </p:nvPr>
        </p:nvSpPr>
        <p:spPr>
          <a:xfrm>
            <a:off x="904163" y="842339"/>
            <a:ext cx="8411287" cy="1777036"/>
          </a:xfrm>
          <a:solidFill>
            <a:schemeClr val="tx1">
              <a:alpha val="50000"/>
            </a:schemeClr>
          </a:solidFill>
        </p:spPr>
        <p:txBody>
          <a:bodyPr>
            <a:noAutofit/>
          </a:bodyPr>
          <a:lstStyle/>
          <a:p>
            <a:r>
              <a:rPr lang="en-US" dirty="0">
                <a:solidFill>
                  <a:schemeClr val="bg1"/>
                </a:solidFill>
              </a:rPr>
              <a:t>Monitoring Nvidia GPUs &amp; Infiniband</a:t>
            </a:r>
          </a:p>
        </p:txBody>
      </p:sp>
      <p:sp>
        <p:nvSpPr>
          <p:cNvPr id="12" name="TextBox 11">
            <a:extLst>
              <a:ext uri="{FF2B5EF4-FFF2-40B4-BE49-F238E27FC236}">
                <a16:creationId xmlns:a16="http://schemas.microsoft.com/office/drawing/2014/main" id="{00EFB357-EADD-FC8E-5E37-76B6D3AA5ED8}"/>
              </a:ext>
            </a:extLst>
          </p:cNvPr>
          <p:cNvSpPr txBox="1"/>
          <p:nvPr/>
        </p:nvSpPr>
        <p:spPr>
          <a:xfrm>
            <a:off x="904163" y="3486150"/>
            <a:ext cx="4886325" cy="2677656"/>
          </a:xfrm>
          <a:prstGeom prst="rect">
            <a:avLst/>
          </a:prstGeom>
          <a:solidFill>
            <a:schemeClr val="tx1">
              <a:alpha val="50000"/>
            </a:schemeClr>
          </a:solidFill>
        </p:spPr>
        <p:txBody>
          <a:bodyPr wrap="square" rtlCol="0">
            <a:spAutoFit/>
          </a:bodyPr>
          <a:lstStyle/>
          <a:p>
            <a:r>
              <a:rPr lang="en-US" sz="2400" dirty="0">
                <a:solidFill>
                  <a:schemeClr val="bg1"/>
                </a:solidFill>
              </a:rPr>
              <a:t>May 2025</a:t>
            </a:r>
          </a:p>
          <a:p>
            <a:endParaRPr lang="en-US" dirty="0">
              <a:solidFill>
                <a:schemeClr val="bg1"/>
              </a:solidFill>
            </a:endParaRPr>
          </a:p>
          <a:p>
            <a:endParaRPr lang="en-US" dirty="0">
              <a:solidFill>
                <a:schemeClr val="bg1"/>
              </a:solidFill>
            </a:endParaRPr>
          </a:p>
          <a:p>
            <a:endParaRPr lang="en-US" dirty="0">
              <a:solidFill>
                <a:schemeClr val="bg1"/>
              </a:solidFill>
            </a:endParaRPr>
          </a:p>
          <a:p>
            <a:r>
              <a:rPr lang="en-US" dirty="0">
                <a:solidFill>
                  <a:schemeClr val="bg1"/>
                </a:solidFill>
              </a:rPr>
              <a:t>Vinil Vadakkepurakkal(HPC Support)</a:t>
            </a:r>
          </a:p>
          <a:p>
            <a:r>
              <a:rPr lang="en-US" dirty="0">
                <a:solidFill>
                  <a:schemeClr val="bg1"/>
                </a:solidFill>
              </a:rPr>
              <a:t>Sooyoung Moon(HPC GBB)</a:t>
            </a:r>
          </a:p>
          <a:p>
            <a:endParaRPr lang="en-US" dirty="0">
              <a:solidFill>
                <a:schemeClr val="bg1"/>
              </a:solidFill>
            </a:endParaRPr>
          </a:p>
          <a:p>
            <a:endParaRPr lang="en-US" dirty="0">
              <a:solidFill>
                <a:schemeClr val="bg1"/>
              </a:solidFill>
            </a:endParaRPr>
          </a:p>
          <a:p>
            <a:r>
              <a:rPr lang="en-US" dirty="0">
                <a:solidFill>
                  <a:schemeClr val="bg1"/>
                </a:solidFill>
              </a:rPr>
              <a:t>Microsoft</a:t>
            </a:r>
          </a:p>
        </p:txBody>
      </p:sp>
    </p:spTree>
    <p:extLst>
      <p:ext uri="{BB962C8B-B14F-4D97-AF65-F5344CB8AC3E}">
        <p14:creationId xmlns:p14="http://schemas.microsoft.com/office/powerpoint/2010/main" val="955453328"/>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29F88E-684B-E8C5-1BF9-80FD98201828}"/>
              </a:ext>
            </a:extLst>
          </p:cNvPr>
          <p:cNvSpPr txBox="1"/>
          <p:nvPr/>
        </p:nvSpPr>
        <p:spPr>
          <a:xfrm>
            <a:off x="723899" y="304800"/>
            <a:ext cx="10048875" cy="523220"/>
          </a:xfrm>
          <a:prstGeom prst="rect">
            <a:avLst/>
          </a:prstGeom>
          <a:noFill/>
        </p:spPr>
        <p:txBody>
          <a:bodyPr wrap="square" rtlCol="0">
            <a:spAutoFit/>
          </a:bodyPr>
          <a:lstStyle/>
          <a:p>
            <a:r>
              <a:rPr lang="en-US" sz="2800" dirty="0"/>
              <a:t>What is </a:t>
            </a:r>
            <a:r>
              <a:rPr lang="en-US" sz="2800" dirty="0" err="1"/>
              <a:t>Telegraf</a:t>
            </a:r>
            <a:r>
              <a:rPr lang="en-US" sz="2800" dirty="0"/>
              <a:t>?</a:t>
            </a:r>
          </a:p>
        </p:txBody>
      </p:sp>
      <p:sp>
        <p:nvSpPr>
          <p:cNvPr id="5" name="TextBox 4">
            <a:extLst>
              <a:ext uri="{FF2B5EF4-FFF2-40B4-BE49-F238E27FC236}">
                <a16:creationId xmlns:a16="http://schemas.microsoft.com/office/drawing/2014/main" id="{4B758158-5CA9-551D-D986-D157B619302E}"/>
              </a:ext>
            </a:extLst>
          </p:cNvPr>
          <p:cNvSpPr txBox="1"/>
          <p:nvPr/>
        </p:nvSpPr>
        <p:spPr>
          <a:xfrm>
            <a:off x="723899" y="1009650"/>
            <a:ext cx="11115676" cy="4401205"/>
          </a:xfrm>
          <a:prstGeom prst="rect">
            <a:avLst/>
          </a:prstGeom>
          <a:noFill/>
        </p:spPr>
        <p:txBody>
          <a:bodyPr wrap="square" rtlCol="0">
            <a:spAutoFit/>
          </a:bodyPr>
          <a:lstStyle/>
          <a:p>
            <a:r>
              <a:rPr lang="en-US" sz="2000" dirty="0"/>
              <a:t>An open-source server agent used for collecting and reporting metrics, developed by </a:t>
            </a:r>
            <a:r>
              <a:rPr lang="en-US" sz="2000" dirty="0" err="1"/>
              <a:t>InfluxData</a:t>
            </a:r>
            <a:r>
              <a:rPr lang="en-US" sz="2000" dirty="0"/>
              <a:t>.</a:t>
            </a:r>
          </a:p>
          <a:p>
            <a:endParaRPr lang="en-US" sz="2000" dirty="0"/>
          </a:p>
          <a:p>
            <a:pPr marL="285750" indent="-285750">
              <a:buFont typeface="Arial" panose="020B0604020202020204" pitchFamily="34" charset="0"/>
              <a:buChar char="•"/>
            </a:pPr>
            <a:r>
              <a:rPr lang="en-US" sz="2000" dirty="0"/>
              <a:t>Key Features:</a:t>
            </a:r>
          </a:p>
          <a:p>
            <a:pPr lvl="1"/>
            <a:r>
              <a:rPr lang="en-US" sz="2000" dirty="0"/>
              <a:t>- </a:t>
            </a:r>
            <a:r>
              <a:rPr lang="en-US" sz="2000" b="1" dirty="0"/>
              <a:t>Plugin-based</a:t>
            </a:r>
            <a:r>
              <a:rPr lang="en-US" sz="2000" dirty="0"/>
              <a:t> architecture: </a:t>
            </a:r>
            <a:r>
              <a:rPr lang="en-US" sz="2000" dirty="0" err="1"/>
              <a:t>Telegraf</a:t>
            </a:r>
            <a:r>
              <a:rPr lang="en-US" sz="2000" dirty="0"/>
              <a:t> supports a wide range of input, output, processor, and aggregator plugins. This allows it to collect data from various sources (like system metrics, databases, message queues, etc.) and send it to different destinations (like </a:t>
            </a:r>
            <a:r>
              <a:rPr lang="en-US" sz="2000" dirty="0" err="1"/>
              <a:t>InfluxDB</a:t>
            </a:r>
            <a:r>
              <a:rPr lang="en-US" sz="2000" dirty="0"/>
              <a:t>, Prometheus, Kafka, etc.).</a:t>
            </a:r>
          </a:p>
          <a:p>
            <a:pPr lvl="1"/>
            <a:r>
              <a:rPr lang="en-US" sz="2000" dirty="0"/>
              <a:t>- </a:t>
            </a:r>
            <a:r>
              <a:rPr lang="en-US" sz="2000" b="1" dirty="0"/>
              <a:t>Lightweight</a:t>
            </a:r>
            <a:r>
              <a:rPr lang="en-US" sz="2000" dirty="0"/>
              <a:t> and efficient: It’s written in Go, making it fast and suitable for running on edge devices or servers with limited resources.</a:t>
            </a:r>
          </a:p>
          <a:p>
            <a:pPr lvl="1"/>
            <a:r>
              <a:rPr lang="en-US" sz="2000" dirty="0"/>
              <a:t>- </a:t>
            </a:r>
            <a:r>
              <a:rPr lang="en-US" sz="2000" b="1" dirty="0"/>
              <a:t>Extensible</a:t>
            </a:r>
            <a:r>
              <a:rPr lang="en-US" sz="2000" dirty="0"/>
              <a:t>: You can write custom plugins if the built-in ones don’t meet your needs.</a:t>
            </a:r>
          </a:p>
          <a:p>
            <a:pPr marL="285750" indent="-285750">
              <a:buFont typeface="Arial" panose="020B0604020202020204" pitchFamily="34" charset="0"/>
              <a:buChar char="•"/>
            </a:pPr>
            <a:r>
              <a:rPr lang="en-US" sz="2000" dirty="0"/>
              <a:t>Common Use Cases:</a:t>
            </a:r>
          </a:p>
          <a:p>
            <a:pPr lvl="1"/>
            <a:r>
              <a:rPr lang="en-US" sz="2000" dirty="0"/>
              <a:t>- </a:t>
            </a:r>
            <a:r>
              <a:rPr lang="en-US" sz="2000" b="1" dirty="0"/>
              <a:t>Monitoring</a:t>
            </a:r>
            <a:r>
              <a:rPr lang="en-US" sz="2000" dirty="0"/>
              <a:t> system performance (CPU, memory, disk, network)</a:t>
            </a:r>
          </a:p>
          <a:p>
            <a:pPr lvl="1"/>
            <a:r>
              <a:rPr lang="en-US" sz="2000" dirty="0"/>
              <a:t>- </a:t>
            </a:r>
            <a:r>
              <a:rPr lang="en-US" sz="2000" b="1" dirty="0"/>
              <a:t>Collecting</a:t>
            </a:r>
            <a:r>
              <a:rPr lang="en-US" sz="2000" dirty="0"/>
              <a:t> metrics from applications, containers, and cloud services</a:t>
            </a:r>
          </a:p>
          <a:p>
            <a:pPr lvl="1"/>
            <a:r>
              <a:rPr lang="en-US" sz="2000" dirty="0"/>
              <a:t>- </a:t>
            </a:r>
            <a:r>
              <a:rPr lang="en-US" sz="2000" b="1" dirty="0"/>
              <a:t>Sending</a:t>
            </a:r>
            <a:r>
              <a:rPr lang="en-US" sz="2000" dirty="0"/>
              <a:t> metrics to time-series databases for analysis and visualization</a:t>
            </a:r>
          </a:p>
        </p:txBody>
      </p:sp>
    </p:spTree>
    <p:extLst>
      <p:ext uri="{BB962C8B-B14F-4D97-AF65-F5344CB8AC3E}">
        <p14:creationId xmlns:p14="http://schemas.microsoft.com/office/powerpoint/2010/main" val="892514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A33E3A-86E6-F7CF-EDF7-A03CAF418BE9}"/>
              </a:ext>
            </a:extLst>
          </p:cNvPr>
          <p:cNvSpPr txBox="1"/>
          <p:nvPr/>
        </p:nvSpPr>
        <p:spPr>
          <a:xfrm>
            <a:off x="704850" y="962025"/>
            <a:ext cx="11353800" cy="5632311"/>
          </a:xfrm>
          <a:prstGeom prst="rect">
            <a:avLst/>
          </a:prstGeom>
          <a:noFill/>
        </p:spPr>
        <p:txBody>
          <a:bodyPr wrap="square" rtlCol="0">
            <a:spAutoFit/>
          </a:bodyPr>
          <a:lstStyle/>
          <a:p>
            <a:r>
              <a:rPr lang="en-US" sz="2000" dirty="0"/>
              <a:t>A comprehensive monitoring service provided by Microsoft Azure that helps you collect, analyze, and act on telemetry data from your cloud and on-premises environments.</a:t>
            </a:r>
          </a:p>
          <a:p>
            <a:endParaRPr lang="en-US" sz="2000" dirty="0"/>
          </a:p>
          <a:p>
            <a:pPr marL="285750" indent="-285750">
              <a:buFont typeface="Arial" panose="020B0604020202020204" pitchFamily="34" charset="0"/>
              <a:buChar char="•"/>
            </a:pPr>
            <a:r>
              <a:rPr lang="en-US" sz="2000" dirty="0"/>
              <a:t>Key Features:</a:t>
            </a:r>
          </a:p>
          <a:p>
            <a:pPr lvl="1"/>
            <a:r>
              <a:rPr lang="en-US" sz="2000" dirty="0"/>
              <a:t>- </a:t>
            </a:r>
            <a:r>
              <a:rPr lang="en-US" sz="2000" b="1" dirty="0"/>
              <a:t>Data Collection: </a:t>
            </a:r>
            <a:r>
              <a:rPr lang="en-US" sz="2000" dirty="0"/>
              <a:t>Collects metrics, logs, and traces from Azure resources, virtual machines, containers, and applications.</a:t>
            </a:r>
          </a:p>
          <a:p>
            <a:pPr lvl="1"/>
            <a:r>
              <a:rPr lang="en-US" sz="2000" dirty="0"/>
              <a:t>- </a:t>
            </a:r>
            <a:r>
              <a:rPr lang="en-US" sz="2000" b="1" dirty="0"/>
              <a:t>Data Analysis and Visualization</a:t>
            </a:r>
            <a:r>
              <a:rPr lang="en-US" sz="2000" dirty="0"/>
              <a:t>: Use Log Analytics to query and analyze log data using KQL and create dashboards and visualizations in the Azure portal or integrate with Power BI.</a:t>
            </a:r>
          </a:p>
          <a:p>
            <a:pPr lvl="1"/>
            <a:r>
              <a:rPr lang="en-US" sz="2000" dirty="0"/>
              <a:t>- </a:t>
            </a:r>
            <a:r>
              <a:rPr lang="en-US" sz="2000" b="1" dirty="0"/>
              <a:t>Alerts and Automation</a:t>
            </a:r>
            <a:r>
              <a:rPr lang="en-US" sz="2000" dirty="0"/>
              <a:t>: Set up alerts based on metrics or logs to proactively notify you of issues.</a:t>
            </a:r>
          </a:p>
          <a:p>
            <a:pPr lvl="1"/>
            <a:r>
              <a:rPr lang="en-US" sz="2000" dirty="0"/>
              <a:t>- </a:t>
            </a:r>
            <a:r>
              <a:rPr lang="en-US" sz="2000" b="1" dirty="0"/>
              <a:t>Integration</a:t>
            </a:r>
            <a:r>
              <a:rPr lang="en-US" sz="2000" dirty="0"/>
              <a:t>: Works with other Azure services like Azure Security Center, Azure Automation, and Azure Logic Apps.</a:t>
            </a:r>
          </a:p>
          <a:p>
            <a:pPr lvl="1"/>
            <a:r>
              <a:rPr lang="en-US" sz="2000" dirty="0"/>
              <a:t>- </a:t>
            </a:r>
            <a:r>
              <a:rPr lang="en-US" sz="2000" b="1" dirty="0"/>
              <a:t>Insights</a:t>
            </a:r>
            <a:r>
              <a:rPr lang="en-US" sz="2000" dirty="0"/>
              <a:t>: Provides specialized monitoring solutions for services like VMs, containers (Kubernetes), databases, and networking.</a:t>
            </a:r>
          </a:p>
          <a:p>
            <a:pPr marL="285750" indent="-285750">
              <a:buFont typeface="Arial" panose="020B0604020202020204" pitchFamily="34" charset="0"/>
              <a:buChar char="•"/>
            </a:pPr>
            <a:r>
              <a:rPr lang="en-US" sz="2000" dirty="0"/>
              <a:t>Common Use Cases:</a:t>
            </a:r>
          </a:p>
          <a:p>
            <a:pPr lvl="1"/>
            <a:r>
              <a:rPr lang="en-US" sz="2000" dirty="0"/>
              <a:t>- </a:t>
            </a:r>
            <a:r>
              <a:rPr lang="en-US" sz="2000" b="1" dirty="0"/>
              <a:t>Monitoring</a:t>
            </a:r>
            <a:r>
              <a:rPr lang="en-US" sz="2000" dirty="0"/>
              <a:t> the health and performance of Azure resources</a:t>
            </a:r>
          </a:p>
          <a:p>
            <a:pPr lvl="1"/>
            <a:r>
              <a:rPr lang="en-US" sz="2000" dirty="0"/>
              <a:t>- </a:t>
            </a:r>
            <a:r>
              <a:rPr lang="en-US" sz="2000" b="1" dirty="0"/>
              <a:t>Diagnosing</a:t>
            </a:r>
            <a:r>
              <a:rPr lang="en-US" sz="2000" dirty="0"/>
              <a:t> application issues with distributed tracing</a:t>
            </a:r>
          </a:p>
          <a:p>
            <a:pPr lvl="1"/>
            <a:r>
              <a:rPr lang="en-US" sz="2000" dirty="0"/>
              <a:t>- Setting up </a:t>
            </a:r>
            <a:r>
              <a:rPr lang="en-US" sz="2000" b="1" dirty="0"/>
              <a:t>alerts</a:t>
            </a:r>
            <a:r>
              <a:rPr lang="en-US" sz="2000" dirty="0"/>
              <a:t> for anomalies or failures</a:t>
            </a:r>
          </a:p>
          <a:p>
            <a:pPr lvl="1"/>
            <a:r>
              <a:rPr lang="en-US" sz="2000" dirty="0"/>
              <a:t>- Ensuring </a:t>
            </a:r>
            <a:r>
              <a:rPr lang="en-US" sz="2000" b="1" dirty="0"/>
              <a:t>compliance and auditing </a:t>
            </a:r>
            <a:r>
              <a:rPr lang="en-US" sz="2000" dirty="0"/>
              <a:t>with log data</a:t>
            </a:r>
          </a:p>
        </p:txBody>
      </p:sp>
      <p:sp>
        <p:nvSpPr>
          <p:cNvPr id="3" name="TextBox 2">
            <a:extLst>
              <a:ext uri="{FF2B5EF4-FFF2-40B4-BE49-F238E27FC236}">
                <a16:creationId xmlns:a16="http://schemas.microsoft.com/office/drawing/2014/main" id="{E0BFDD02-CD4A-AAF7-8C6F-D1D3011CCAD6}"/>
              </a:ext>
            </a:extLst>
          </p:cNvPr>
          <p:cNvSpPr txBox="1"/>
          <p:nvPr/>
        </p:nvSpPr>
        <p:spPr>
          <a:xfrm>
            <a:off x="723899" y="304800"/>
            <a:ext cx="10048875" cy="523220"/>
          </a:xfrm>
          <a:prstGeom prst="rect">
            <a:avLst/>
          </a:prstGeom>
          <a:noFill/>
        </p:spPr>
        <p:txBody>
          <a:bodyPr wrap="square" rtlCol="0">
            <a:spAutoFit/>
          </a:bodyPr>
          <a:lstStyle/>
          <a:p>
            <a:r>
              <a:rPr lang="en-US" sz="2800" dirty="0"/>
              <a:t>What is Azure Monitor?</a:t>
            </a:r>
          </a:p>
        </p:txBody>
      </p:sp>
    </p:spTree>
    <p:extLst>
      <p:ext uri="{BB962C8B-B14F-4D97-AF65-F5344CB8AC3E}">
        <p14:creationId xmlns:p14="http://schemas.microsoft.com/office/powerpoint/2010/main" val="203330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3C7917-E95E-852E-A74E-08A82E7006BF}"/>
              </a:ext>
            </a:extLst>
          </p:cNvPr>
          <p:cNvSpPr txBox="1"/>
          <p:nvPr/>
        </p:nvSpPr>
        <p:spPr>
          <a:xfrm>
            <a:off x="4210051" y="656145"/>
            <a:ext cx="4080824" cy="5509200"/>
          </a:xfrm>
          <a:prstGeom prst="rect">
            <a:avLst/>
          </a:prstGeom>
          <a:noFill/>
        </p:spPr>
        <p:txBody>
          <a:bodyPr wrap="square" rtlCol="0">
            <a:spAutoFit/>
          </a:bodyPr>
          <a:lstStyle/>
          <a:p>
            <a:r>
              <a:rPr lang="en-US" sz="1600" dirty="0" err="1"/>
              <a:t>fan_speed</a:t>
            </a:r>
            <a:r>
              <a:rPr lang="en-US" sz="1600" dirty="0"/>
              <a:t> (integer, percentage)</a:t>
            </a:r>
          </a:p>
          <a:p>
            <a:r>
              <a:rPr lang="en-US" sz="1600" dirty="0" err="1"/>
              <a:t>fbc_stats_session_count</a:t>
            </a:r>
            <a:r>
              <a:rPr lang="en-US" sz="1600" dirty="0"/>
              <a:t> (integer)</a:t>
            </a:r>
          </a:p>
          <a:p>
            <a:r>
              <a:rPr lang="en-US" sz="1600" dirty="0" err="1"/>
              <a:t>fbc_stats_average_fps</a:t>
            </a:r>
            <a:r>
              <a:rPr lang="en-US" sz="1600" dirty="0"/>
              <a:t> (integer)</a:t>
            </a:r>
          </a:p>
          <a:p>
            <a:r>
              <a:rPr lang="en-US" sz="1600" dirty="0" err="1"/>
              <a:t>fbc_stats_average_latency</a:t>
            </a:r>
            <a:r>
              <a:rPr lang="en-US" sz="1600" dirty="0"/>
              <a:t> (integer)</a:t>
            </a:r>
          </a:p>
          <a:p>
            <a:r>
              <a:rPr lang="en-US" sz="1600" dirty="0" err="1"/>
              <a:t>memory_free</a:t>
            </a:r>
            <a:r>
              <a:rPr lang="en-US" sz="1600" dirty="0"/>
              <a:t> (integer, MiB)</a:t>
            </a:r>
          </a:p>
          <a:p>
            <a:r>
              <a:rPr lang="en-US" sz="1600" dirty="0" err="1"/>
              <a:t>memory_used</a:t>
            </a:r>
            <a:r>
              <a:rPr lang="en-US" sz="1600" dirty="0"/>
              <a:t> (integer, MiB)</a:t>
            </a:r>
          </a:p>
          <a:p>
            <a:r>
              <a:rPr lang="en-US" sz="1600" dirty="0" err="1"/>
              <a:t>memory_total</a:t>
            </a:r>
            <a:r>
              <a:rPr lang="en-US" sz="1600" dirty="0"/>
              <a:t> (integer, MiB)</a:t>
            </a:r>
          </a:p>
          <a:p>
            <a:r>
              <a:rPr lang="en-US" sz="1600" dirty="0" err="1"/>
              <a:t>power_draw</a:t>
            </a:r>
            <a:r>
              <a:rPr lang="en-US" sz="1600" dirty="0"/>
              <a:t> (float, W)</a:t>
            </a:r>
          </a:p>
          <a:p>
            <a:r>
              <a:rPr lang="en-US" sz="1600" dirty="0" err="1"/>
              <a:t>temperature_gpu</a:t>
            </a:r>
            <a:r>
              <a:rPr lang="en-US" sz="1600" dirty="0"/>
              <a:t> (integer, degrees C)</a:t>
            </a:r>
          </a:p>
          <a:p>
            <a:r>
              <a:rPr lang="en-US" sz="1600" dirty="0" err="1"/>
              <a:t>utilization_gpu</a:t>
            </a:r>
            <a:r>
              <a:rPr lang="en-US" sz="1600" dirty="0"/>
              <a:t> (integer, percentage)</a:t>
            </a:r>
          </a:p>
          <a:p>
            <a:r>
              <a:rPr lang="en-US" sz="1600" dirty="0" err="1"/>
              <a:t>utilization_memory</a:t>
            </a:r>
            <a:r>
              <a:rPr lang="en-US" sz="1600" dirty="0"/>
              <a:t> (integer, percentage)</a:t>
            </a:r>
          </a:p>
          <a:p>
            <a:r>
              <a:rPr lang="en-US" sz="1600" dirty="0" err="1"/>
              <a:t>utilization_encoder</a:t>
            </a:r>
            <a:r>
              <a:rPr lang="en-US" sz="1600" dirty="0"/>
              <a:t> (integer, percentage)</a:t>
            </a:r>
          </a:p>
          <a:p>
            <a:r>
              <a:rPr lang="en-US" sz="1600" dirty="0" err="1"/>
              <a:t>utilization_decoder</a:t>
            </a:r>
            <a:r>
              <a:rPr lang="en-US" sz="1600" dirty="0"/>
              <a:t> (integer, percentage)</a:t>
            </a:r>
          </a:p>
          <a:p>
            <a:r>
              <a:rPr lang="en-US" sz="1600" dirty="0" err="1"/>
              <a:t>pcie_link_gen_current</a:t>
            </a:r>
            <a:r>
              <a:rPr lang="en-US" sz="1600" dirty="0"/>
              <a:t> (integer)</a:t>
            </a:r>
          </a:p>
          <a:p>
            <a:r>
              <a:rPr lang="en-US" sz="1600" dirty="0" err="1"/>
              <a:t>pcie_link_width_current</a:t>
            </a:r>
            <a:r>
              <a:rPr lang="en-US" sz="1600" dirty="0"/>
              <a:t> (integer)</a:t>
            </a:r>
          </a:p>
          <a:p>
            <a:r>
              <a:rPr lang="en-US" sz="1600" dirty="0" err="1"/>
              <a:t>encoder_stats_session_count</a:t>
            </a:r>
            <a:r>
              <a:rPr lang="en-US" sz="1600" dirty="0"/>
              <a:t> (integer)</a:t>
            </a:r>
          </a:p>
          <a:p>
            <a:r>
              <a:rPr lang="en-US" sz="1600" dirty="0" err="1"/>
              <a:t>encoder_stats_average_fps</a:t>
            </a:r>
            <a:r>
              <a:rPr lang="en-US" sz="1600" dirty="0"/>
              <a:t> (integer)</a:t>
            </a:r>
          </a:p>
          <a:p>
            <a:r>
              <a:rPr lang="en-US" sz="1600" dirty="0" err="1"/>
              <a:t>encoder_stats_average_latency</a:t>
            </a:r>
            <a:r>
              <a:rPr lang="en-US" sz="1600" dirty="0"/>
              <a:t> (integer)</a:t>
            </a:r>
          </a:p>
          <a:p>
            <a:r>
              <a:rPr lang="en-US" sz="1600" dirty="0" err="1"/>
              <a:t>clocks_current_graphics</a:t>
            </a:r>
            <a:r>
              <a:rPr lang="en-US" sz="1600" dirty="0"/>
              <a:t> (integer, MHz)</a:t>
            </a:r>
          </a:p>
          <a:p>
            <a:r>
              <a:rPr lang="en-US" sz="1600" dirty="0" err="1"/>
              <a:t>clocks_current_sm</a:t>
            </a:r>
            <a:r>
              <a:rPr lang="en-US" sz="1600" dirty="0"/>
              <a:t> (integer, MHz)</a:t>
            </a:r>
          </a:p>
          <a:p>
            <a:r>
              <a:rPr lang="en-US" sz="1600" dirty="0" err="1"/>
              <a:t>clocks_current_memory</a:t>
            </a:r>
            <a:r>
              <a:rPr lang="en-US" sz="1600" dirty="0"/>
              <a:t> (integer, MHz)</a:t>
            </a:r>
          </a:p>
          <a:p>
            <a:r>
              <a:rPr lang="en-US" sz="1600" dirty="0" err="1"/>
              <a:t>clocks_current_video</a:t>
            </a:r>
            <a:r>
              <a:rPr lang="en-US" sz="1600" dirty="0"/>
              <a:t> (integer, MHz)</a:t>
            </a:r>
          </a:p>
        </p:txBody>
      </p:sp>
      <p:sp>
        <p:nvSpPr>
          <p:cNvPr id="5" name="TextBox 4">
            <a:extLst>
              <a:ext uri="{FF2B5EF4-FFF2-40B4-BE49-F238E27FC236}">
                <a16:creationId xmlns:a16="http://schemas.microsoft.com/office/drawing/2014/main" id="{D64F8D6F-36FD-0E10-E1E4-AC6B7BA967DD}"/>
              </a:ext>
            </a:extLst>
          </p:cNvPr>
          <p:cNvSpPr txBox="1"/>
          <p:nvPr/>
        </p:nvSpPr>
        <p:spPr>
          <a:xfrm>
            <a:off x="661153" y="2323653"/>
            <a:ext cx="6096000" cy="1508105"/>
          </a:xfrm>
          <a:prstGeom prst="rect">
            <a:avLst/>
          </a:prstGeom>
          <a:noFill/>
        </p:spPr>
        <p:txBody>
          <a:bodyPr wrap="square">
            <a:spAutoFit/>
          </a:bodyPr>
          <a:lstStyle/>
          <a:p>
            <a:pPr algn="l">
              <a:spcAft>
                <a:spcPts val="1200"/>
              </a:spcAft>
              <a:buNone/>
            </a:pPr>
            <a:r>
              <a:rPr lang="en-US" b="1" i="0" dirty="0" err="1">
                <a:effectLst/>
                <a:latin typeface="-apple-system"/>
              </a:rPr>
              <a:t>Telegraf</a:t>
            </a:r>
            <a:endParaRPr lang="en-US" b="1" i="0" dirty="0">
              <a:effectLst/>
              <a:latin typeface="-apple-system"/>
            </a:endParaRPr>
          </a:p>
          <a:p>
            <a:pPr algn="l">
              <a:spcAft>
                <a:spcPts val="1200"/>
              </a:spcAft>
              <a:buNone/>
            </a:pPr>
            <a:r>
              <a:rPr lang="en-US" b="1" i="0" dirty="0">
                <a:effectLst/>
                <a:latin typeface="-apple-system"/>
              </a:rPr>
              <a:t>InfiniBand SMI Plugin Metrics</a:t>
            </a:r>
          </a:p>
          <a:p>
            <a:pPr>
              <a:buNone/>
            </a:pPr>
            <a:br>
              <a:rPr lang="en-US" dirty="0"/>
            </a:br>
            <a:endParaRPr lang="en-US" dirty="0"/>
          </a:p>
        </p:txBody>
      </p:sp>
    </p:spTree>
    <p:extLst>
      <p:ext uri="{BB962C8B-B14F-4D97-AF65-F5344CB8AC3E}">
        <p14:creationId xmlns:p14="http://schemas.microsoft.com/office/powerpoint/2010/main" val="68682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DF224-87F4-53EE-0692-E9FAA4E31E8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6709B9C-94BD-170C-D012-8D332C6427F4}"/>
              </a:ext>
            </a:extLst>
          </p:cNvPr>
          <p:cNvSpPr txBox="1"/>
          <p:nvPr/>
        </p:nvSpPr>
        <p:spPr>
          <a:xfrm>
            <a:off x="4160559" y="265620"/>
            <a:ext cx="3459441" cy="4832092"/>
          </a:xfrm>
          <a:prstGeom prst="rect">
            <a:avLst/>
          </a:prstGeom>
          <a:noFill/>
        </p:spPr>
        <p:txBody>
          <a:bodyPr wrap="square" rtlCol="0">
            <a:spAutoFit/>
          </a:bodyPr>
          <a:lstStyle/>
          <a:p>
            <a:r>
              <a:rPr lang="en-US" sz="1400" b="1" dirty="0"/>
              <a:t>Infiniband Counters</a:t>
            </a:r>
          </a:p>
          <a:p>
            <a:r>
              <a:rPr lang="en-US" sz="1400" dirty="0" err="1"/>
              <a:t>excessive_buffer_overrun_errors</a:t>
            </a:r>
            <a:r>
              <a:rPr lang="en-US" sz="1400" dirty="0"/>
              <a:t> (integer)</a:t>
            </a:r>
          </a:p>
          <a:p>
            <a:r>
              <a:rPr lang="en-US" sz="1400" dirty="0" err="1"/>
              <a:t>link_downed</a:t>
            </a:r>
            <a:r>
              <a:rPr lang="en-US" sz="1400" dirty="0"/>
              <a:t> (integer)</a:t>
            </a:r>
          </a:p>
          <a:p>
            <a:r>
              <a:rPr lang="en-US" sz="1400" dirty="0" err="1"/>
              <a:t>link_error_recovery</a:t>
            </a:r>
            <a:r>
              <a:rPr lang="en-US" sz="1400" dirty="0"/>
              <a:t> (integer)</a:t>
            </a:r>
          </a:p>
          <a:p>
            <a:r>
              <a:rPr lang="en-US" sz="1400" dirty="0" err="1"/>
              <a:t>local_link_integrity_errors</a:t>
            </a:r>
            <a:r>
              <a:rPr lang="en-US" sz="1400" dirty="0"/>
              <a:t> (integer)</a:t>
            </a:r>
          </a:p>
          <a:p>
            <a:r>
              <a:rPr lang="en-US" sz="1400" dirty="0" err="1"/>
              <a:t>multicast_rcv_packets</a:t>
            </a:r>
            <a:r>
              <a:rPr lang="en-US" sz="1400" dirty="0"/>
              <a:t> (integer)</a:t>
            </a:r>
          </a:p>
          <a:p>
            <a:r>
              <a:rPr lang="en-US" sz="1400" dirty="0" err="1"/>
              <a:t>multicast_xmit_packets</a:t>
            </a:r>
            <a:r>
              <a:rPr lang="en-US" sz="1400" dirty="0"/>
              <a:t> (integer)</a:t>
            </a:r>
          </a:p>
          <a:p>
            <a:r>
              <a:rPr lang="en-US" sz="1400" dirty="0" err="1"/>
              <a:t>port_rcv_constraint_errors</a:t>
            </a:r>
            <a:r>
              <a:rPr lang="en-US" sz="1400" dirty="0"/>
              <a:t> (integer)</a:t>
            </a:r>
          </a:p>
          <a:p>
            <a:r>
              <a:rPr lang="en-US" sz="1400" dirty="0" err="1"/>
              <a:t>port_rcv_data</a:t>
            </a:r>
            <a:r>
              <a:rPr lang="en-US" sz="1400" dirty="0"/>
              <a:t> (integer)</a:t>
            </a:r>
          </a:p>
          <a:p>
            <a:r>
              <a:rPr lang="en-US" sz="1400" dirty="0" err="1"/>
              <a:t>port_rcv_errors</a:t>
            </a:r>
            <a:r>
              <a:rPr lang="en-US" sz="1400" dirty="0"/>
              <a:t> (integer)</a:t>
            </a:r>
          </a:p>
          <a:p>
            <a:r>
              <a:rPr lang="en-US" sz="1400" dirty="0" err="1"/>
              <a:t>port_rcv_packets</a:t>
            </a:r>
            <a:r>
              <a:rPr lang="en-US" sz="1400" dirty="0"/>
              <a:t> (integer)</a:t>
            </a:r>
          </a:p>
          <a:p>
            <a:r>
              <a:rPr lang="en-US" sz="1400" dirty="0" err="1"/>
              <a:t>port_rcv_remote_physical_errors</a:t>
            </a:r>
            <a:r>
              <a:rPr lang="en-US" sz="1400" dirty="0"/>
              <a:t> (integer)</a:t>
            </a:r>
          </a:p>
          <a:p>
            <a:r>
              <a:rPr lang="en-US" sz="1400" dirty="0" err="1"/>
              <a:t>port_rcv_switch_relay_errors</a:t>
            </a:r>
            <a:r>
              <a:rPr lang="en-US" sz="1400" dirty="0"/>
              <a:t> (integer)</a:t>
            </a:r>
          </a:p>
          <a:p>
            <a:r>
              <a:rPr lang="en-US" sz="1400" dirty="0" err="1"/>
              <a:t>port_xmit_constraint_errors</a:t>
            </a:r>
            <a:r>
              <a:rPr lang="en-US" sz="1400" dirty="0"/>
              <a:t> (integer)</a:t>
            </a:r>
          </a:p>
          <a:p>
            <a:r>
              <a:rPr lang="en-US" sz="1400" dirty="0" err="1"/>
              <a:t>port_xmit_data</a:t>
            </a:r>
            <a:r>
              <a:rPr lang="en-US" sz="1400" dirty="0"/>
              <a:t> (integer)</a:t>
            </a:r>
          </a:p>
          <a:p>
            <a:r>
              <a:rPr lang="en-US" sz="1400" dirty="0" err="1"/>
              <a:t>port_xmit_discards</a:t>
            </a:r>
            <a:r>
              <a:rPr lang="en-US" sz="1400" dirty="0"/>
              <a:t> (integer)</a:t>
            </a:r>
          </a:p>
          <a:p>
            <a:r>
              <a:rPr lang="en-US" sz="1400" dirty="0" err="1"/>
              <a:t>port_xmit_packets</a:t>
            </a:r>
            <a:r>
              <a:rPr lang="en-US" sz="1400" dirty="0"/>
              <a:t> (integer)</a:t>
            </a:r>
          </a:p>
          <a:p>
            <a:r>
              <a:rPr lang="en-US" sz="1400" dirty="0" err="1"/>
              <a:t>port_xmit_wait</a:t>
            </a:r>
            <a:r>
              <a:rPr lang="en-US" sz="1400" dirty="0"/>
              <a:t> (integer)</a:t>
            </a:r>
          </a:p>
          <a:p>
            <a:r>
              <a:rPr lang="en-US" sz="1400" dirty="0" err="1"/>
              <a:t>symbol_error</a:t>
            </a:r>
            <a:r>
              <a:rPr lang="en-US" sz="1400" dirty="0"/>
              <a:t> (integer)</a:t>
            </a:r>
          </a:p>
          <a:p>
            <a:r>
              <a:rPr lang="en-US" sz="1400" dirty="0" err="1"/>
              <a:t>unicast_rcv_packets</a:t>
            </a:r>
            <a:r>
              <a:rPr lang="en-US" sz="1400" dirty="0"/>
              <a:t> (integer)</a:t>
            </a:r>
          </a:p>
          <a:p>
            <a:r>
              <a:rPr lang="en-US" sz="1400" dirty="0" err="1"/>
              <a:t>unicast_xmit_packets</a:t>
            </a:r>
            <a:r>
              <a:rPr lang="en-US" sz="1400" dirty="0"/>
              <a:t> (integer)</a:t>
            </a:r>
          </a:p>
          <a:p>
            <a:r>
              <a:rPr lang="en-US" sz="1400" dirty="0"/>
              <a:t>VL15_dropped (integer)</a:t>
            </a:r>
          </a:p>
        </p:txBody>
      </p:sp>
      <p:sp>
        <p:nvSpPr>
          <p:cNvPr id="3" name="TextBox 2">
            <a:extLst>
              <a:ext uri="{FF2B5EF4-FFF2-40B4-BE49-F238E27FC236}">
                <a16:creationId xmlns:a16="http://schemas.microsoft.com/office/drawing/2014/main" id="{AB96F351-FB9E-92BF-B3C0-F09DDB667928}"/>
              </a:ext>
            </a:extLst>
          </p:cNvPr>
          <p:cNvSpPr txBox="1"/>
          <p:nvPr/>
        </p:nvSpPr>
        <p:spPr>
          <a:xfrm>
            <a:off x="7841137" y="265620"/>
            <a:ext cx="4112738" cy="6771084"/>
          </a:xfrm>
          <a:prstGeom prst="rect">
            <a:avLst/>
          </a:prstGeom>
          <a:noFill/>
        </p:spPr>
        <p:txBody>
          <a:bodyPr wrap="square" rtlCol="0">
            <a:spAutoFit/>
          </a:bodyPr>
          <a:lstStyle/>
          <a:p>
            <a:r>
              <a:rPr lang="en-US" sz="1400" b="1" dirty="0"/>
              <a:t>Infiniband RDMA counters</a:t>
            </a:r>
          </a:p>
          <a:p>
            <a:r>
              <a:rPr lang="en-US" sz="1400" dirty="0" err="1"/>
              <a:t>duplicate_request</a:t>
            </a:r>
            <a:r>
              <a:rPr lang="en-US" sz="1400" dirty="0"/>
              <a:t> (integer)</a:t>
            </a:r>
          </a:p>
          <a:p>
            <a:r>
              <a:rPr lang="en-US" sz="1400" dirty="0" err="1"/>
              <a:t>implied_nak_seq_err</a:t>
            </a:r>
            <a:r>
              <a:rPr lang="en-US" sz="1400" dirty="0"/>
              <a:t> (integer)</a:t>
            </a:r>
          </a:p>
          <a:p>
            <a:r>
              <a:rPr lang="en-US" sz="1400" dirty="0"/>
              <a:t>lifespan (integer)</a:t>
            </a:r>
          </a:p>
          <a:p>
            <a:r>
              <a:rPr lang="en-US" sz="1400" dirty="0" err="1"/>
              <a:t>local_ack_timeout_err</a:t>
            </a:r>
            <a:r>
              <a:rPr lang="en-US" sz="1400" dirty="0"/>
              <a:t> (integer)</a:t>
            </a:r>
          </a:p>
          <a:p>
            <a:r>
              <a:rPr lang="en-US" sz="1400" dirty="0" err="1"/>
              <a:t>np_cnp_sent</a:t>
            </a:r>
            <a:r>
              <a:rPr lang="en-US" sz="1400" dirty="0"/>
              <a:t> (integer)</a:t>
            </a:r>
          </a:p>
          <a:p>
            <a:r>
              <a:rPr lang="en-US" sz="1400" dirty="0" err="1"/>
              <a:t>np_ecn_marked_roce_packets</a:t>
            </a:r>
            <a:r>
              <a:rPr lang="en-US" sz="1400" dirty="0"/>
              <a:t> (integer)</a:t>
            </a:r>
          </a:p>
          <a:p>
            <a:r>
              <a:rPr lang="en-US" sz="1400" dirty="0" err="1"/>
              <a:t>out_of_buffer</a:t>
            </a:r>
            <a:r>
              <a:rPr lang="en-US" sz="1400" dirty="0"/>
              <a:t> (integer)</a:t>
            </a:r>
          </a:p>
          <a:p>
            <a:r>
              <a:rPr lang="en-US" sz="1400" dirty="0" err="1"/>
              <a:t>out_of_sequence</a:t>
            </a:r>
            <a:r>
              <a:rPr lang="en-US" sz="1400" dirty="0"/>
              <a:t> (integer)</a:t>
            </a:r>
          </a:p>
          <a:p>
            <a:r>
              <a:rPr lang="en-US" sz="1400" dirty="0" err="1"/>
              <a:t>packet_seq_err</a:t>
            </a:r>
            <a:r>
              <a:rPr lang="en-US" sz="1400" dirty="0"/>
              <a:t> (integer)</a:t>
            </a:r>
          </a:p>
          <a:p>
            <a:r>
              <a:rPr lang="en-US" sz="1400" dirty="0" err="1"/>
              <a:t>req_cqe_error</a:t>
            </a:r>
            <a:r>
              <a:rPr lang="en-US" sz="1400" dirty="0"/>
              <a:t> (integer)</a:t>
            </a:r>
          </a:p>
          <a:p>
            <a:r>
              <a:rPr lang="en-US" sz="1400" dirty="0" err="1"/>
              <a:t>req_cqe_flush_error</a:t>
            </a:r>
            <a:r>
              <a:rPr lang="en-US" sz="1400" dirty="0"/>
              <a:t> (integer)</a:t>
            </a:r>
          </a:p>
          <a:p>
            <a:r>
              <a:rPr lang="en-US" sz="1400" dirty="0" err="1"/>
              <a:t>req_remote_access_errors</a:t>
            </a:r>
            <a:r>
              <a:rPr lang="en-US" sz="1400" dirty="0"/>
              <a:t> (integer)</a:t>
            </a:r>
          </a:p>
          <a:p>
            <a:r>
              <a:rPr lang="en-US" sz="1400" dirty="0" err="1"/>
              <a:t>req_remote_invalid_request</a:t>
            </a:r>
            <a:r>
              <a:rPr lang="en-US" sz="1400" dirty="0"/>
              <a:t> (integer)</a:t>
            </a:r>
          </a:p>
          <a:p>
            <a:r>
              <a:rPr lang="en-US" sz="1400" dirty="0" err="1"/>
              <a:t>resp_cqe_error</a:t>
            </a:r>
            <a:r>
              <a:rPr lang="en-US" sz="1400" dirty="0"/>
              <a:t> (integer)</a:t>
            </a:r>
          </a:p>
          <a:p>
            <a:r>
              <a:rPr lang="en-US" sz="1400" dirty="0" err="1"/>
              <a:t>resp_cqe_flush_error</a:t>
            </a:r>
            <a:r>
              <a:rPr lang="en-US" sz="1400" dirty="0"/>
              <a:t> (integer)</a:t>
            </a:r>
          </a:p>
          <a:p>
            <a:r>
              <a:rPr lang="en-US" sz="1400" dirty="0" err="1"/>
              <a:t>resp_local_length_error</a:t>
            </a:r>
            <a:r>
              <a:rPr lang="en-US" sz="1400" dirty="0"/>
              <a:t> (integer)</a:t>
            </a:r>
          </a:p>
          <a:p>
            <a:r>
              <a:rPr lang="en-US" sz="1400" dirty="0" err="1"/>
              <a:t>resp_remote_access_errors</a:t>
            </a:r>
            <a:r>
              <a:rPr lang="en-US" sz="1400" dirty="0"/>
              <a:t> (integer)</a:t>
            </a:r>
          </a:p>
          <a:p>
            <a:r>
              <a:rPr lang="en-US" sz="1400" dirty="0" err="1"/>
              <a:t>rnr_nak_retry_err</a:t>
            </a:r>
            <a:r>
              <a:rPr lang="en-US" sz="1400" dirty="0"/>
              <a:t> (integer)</a:t>
            </a:r>
          </a:p>
          <a:p>
            <a:r>
              <a:rPr lang="en-US" sz="1400" dirty="0" err="1"/>
              <a:t>roce_adp_retrans</a:t>
            </a:r>
            <a:r>
              <a:rPr lang="en-US" sz="1400" dirty="0"/>
              <a:t> (integer)</a:t>
            </a:r>
          </a:p>
          <a:p>
            <a:r>
              <a:rPr lang="en-US" sz="1400" dirty="0" err="1"/>
              <a:t>roce_adp_retrans_to</a:t>
            </a:r>
            <a:r>
              <a:rPr lang="en-US" sz="1400" dirty="0"/>
              <a:t> (integer)</a:t>
            </a:r>
          </a:p>
          <a:p>
            <a:r>
              <a:rPr lang="en-US" sz="1400" dirty="0" err="1"/>
              <a:t>roce_slow_restart</a:t>
            </a:r>
            <a:r>
              <a:rPr lang="en-US" sz="1400" dirty="0"/>
              <a:t> (integer)</a:t>
            </a:r>
          </a:p>
          <a:p>
            <a:r>
              <a:rPr lang="en-US" sz="1400" dirty="0" err="1"/>
              <a:t>roce_slow_restart_cnps</a:t>
            </a:r>
            <a:r>
              <a:rPr lang="en-US" sz="1400" dirty="0"/>
              <a:t> (integer)</a:t>
            </a:r>
          </a:p>
          <a:p>
            <a:r>
              <a:rPr lang="en-US" sz="1400" dirty="0" err="1"/>
              <a:t>roce_slow_restart_trans</a:t>
            </a:r>
            <a:r>
              <a:rPr lang="en-US" sz="1400" dirty="0"/>
              <a:t> (integer)</a:t>
            </a:r>
          </a:p>
          <a:p>
            <a:r>
              <a:rPr lang="en-US" sz="1400" dirty="0" err="1"/>
              <a:t>rp_cnp_handled</a:t>
            </a:r>
            <a:r>
              <a:rPr lang="en-US" sz="1400" dirty="0"/>
              <a:t> (integer)</a:t>
            </a:r>
          </a:p>
          <a:p>
            <a:r>
              <a:rPr lang="en-US" sz="1400" dirty="0" err="1"/>
              <a:t>rp_cnp_ignored</a:t>
            </a:r>
            <a:r>
              <a:rPr lang="en-US" sz="1400" dirty="0"/>
              <a:t> (integer)</a:t>
            </a:r>
          </a:p>
          <a:p>
            <a:r>
              <a:rPr lang="en-US" sz="1400" dirty="0" err="1"/>
              <a:t>rx_atomic_requests</a:t>
            </a:r>
            <a:r>
              <a:rPr lang="en-US" sz="1400" dirty="0"/>
              <a:t> (integer)</a:t>
            </a:r>
          </a:p>
          <a:p>
            <a:r>
              <a:rPr lang="en-US" sz="1400" dirty="0" err="1"/>
              <a:t>rx_icrc_encapsulated</a:t>
            </a:r>
            <a:r>
              <a:rPr lang="en-US" sz="1400" dirty="0"/>
              <a:t> (integer)</a:t>
            </a:r>
          </a:p>
          <a:p>
            <a:r>
              <a:rPr lang="en-US" sz="1400" dirty="0" err="1"/>
              <a:t>rx_read_requests</a:t>
            </a:r>
            <a:r>
              <a:rPr lang="en-US" sz="1400" dirty="0"/>
              <a:t> (integer)</a:t>
            </a:r>
          </a:p>
          <a:p>
            <a:r>
              <a:rPr lang="en-US" sz="1400" dirty="0" err="1"/>
              <a:t>rx_write_requests</a:t>
            </a:r>
            <a:r>
              <a:rPr lang="en-US" sz="1400" dirty="0"/>
              <a:t> (integer)</a:t>
            </a:r>
          </a:p>
        </p:txBody>
      </p:sp>
      <p:sp>
        <p:nvSpPr>
          <p:cNvPr id="5" name="TextBox 4">
            <a:extLst>
              <a:ext uri="{FF2B5EF4-FFF2-40B4-BE49-F238E27FC236}">
                <a16:creationId xmlns:a16="http://schemas.microsoft.com/office/drawing/2014/main" id="{45DCEE4B-3A31-D591-1B1F-ED1F359E79BE}"/>
              </a:ext>
            </a:extLst>
          </p:cNvPr>
          <p:cNvSpPr txBox="1"/>
          <p:nvPr/>
        </p:nvSpPr>
        <p:spPr>
          <a:xfrm>
            <a:off x="661153" y="2323653"/>
            <a:ext cx="6096000" cy="1508105"/>
          </a:xfrm>
          <a:prstGeom prst="rect">
            <a:avLst/>
          </a:prstGeom>
          <a:noFill/>
        </p:spPr>
        <p:txBody>
          <a:bodyPr wrap="square">
            <a:spAutoFit/>
          </a:bodyPr>
          <a:lstStyle/>
          <a:p>
            <a:pPr algn="l">
              <a:spcAft>
                <a:spcPts val="1200"/>
              </a:spcAft>
              <a:buNone/>
            </a:pPr>
            <a:r>
              <a:rPr lang="en-US" b="1" i="0" dirty="0" err="1">
                <a:effectLst/>
                <a:latin typeface="-apple-system"/>
              </a:rPr>
              <a:t>Telegraf</a:t>
            </a:r>
            <a:endParaRPr lang="en-US" b="1" i="0" dirty="0">
              <a:effectLst/>
              <a:latin typeface="-apple-system"/>
            </a:endParaRPr>
          </a:p>
          <a:p>
            <a:pPr algn="l">
              <a:spcAft>
                <a:spcPts val="1200"/>
              </a:spcAft>
              <a:buNone/>
            </a:pPr>
            <a:r>
              <a:rPr lang="en-US" b="1" i="0" dirty="0">
                <a:effectLst/>
                <a:latin typeface="-apple-system"/>
              </a:rPr>
              <a:t>InfiniBand Input Plugin Metrics</a:t>
            </a:r>
          </a:p>
          <a:p>
            <a:pPr>
              <a:buNone/>
            </a:pPr>
            <a:br>
              <a:rPr lang="en-US" dirty="0"/>
            </a:br>
            <a:endParaRPr lang="en-US" dirty="0"/>
          </a:p>
        </p:txBody>
      </p:sp>
    </p:spTree>
    <p:extLst>
      <p:ext uri="{BB962C8B-B14F-4D97-AF65-F5344CB8AC3E}">
        <p14:creationId xmlns:p14="http://schemas.microsoft.com/office/powerpoint/2010/main" val="1894070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81A75F-B773-22D8-0948-44DC63F61DAC}"/>
              </a:ext>
            </a:extLst>
          </p:cNvPr>
          <p:cNvSpPr txBox="1"/>
          <p:nvPr/>
        </p:nvSpPr>
        <p:spPr>
          <a:xfrm>
            <a:off x="723899" y="304800"/>
            <a:ext cx="10048875" cy="523220"/>
          </a:xfrm>
          <a:prstGeom prst="rect">
            <a:avLst/>
          </a:prstGeom>
          <a:noFill/>
        </p:spPr>
        <p:txBody>
          <a:bodyPr wrap="square" rtlCol="0">
            <a:spAutoFit/>
          </a:bodyPr>
          <a:lstStyle/>
          <a:p>
            <a:r>
              <a:rPr lang="en-US" sz="2800" dirty="0"/>
              <a:t>Step 1: Register </a:t>
            </a:r>
            <a:r>
              <a:rPr lang="en-US" sz="2800" dirty="0" err="1"/>
              <a:t>microsoft.insights</a:t>
            </a:r>
            <a:r>
              <a:rPr lang="en-US" sz="2800" dirty="0"/>
              <a:t> in Azure subscription</a:t>
            </a:r>
          </a:p>
        </p:txBody>
      </p:sp>
      <p:pic>
        <p:nvPicPr>
          <p:cNvPr id="8" name="Picture 7">
            <a:extLst>
              <a:ext uri="{FF2B5EF4-FFF2-40B4-BE49-F238E27FC236}">
                <a16:creationId xmlns:a16="http://schemas.microsoft.com/office/drawing/2014/main" id="{B2C1DB05-A1DD-E89C-1873-6656D5DE0548}"/>
              </a:ext>
            </a:extLst>
          </p:cNvPr>
          <p:cNvPicPr>
            <a:picLocks noChangeAspect="1"/>
          </p:cNvPicPr>
          <p:nvPr/>
        </p:nvPicPr>
        <p:blipFill>
          <a:blip r:embed="rId2"/>
          <a:stretch>
            <a:fillRect/>
          </a:stretch>
        </p:blipFill>
        <p:spPr>
          <a:xfrm>
            <a:off x="1041978" y="932471"/>
            <a:ext cx="10108044" cy="4993057"/>
          </a:xfrm>
          <a:prstGeom prst="rect">
            <a:avLst/>
          </a:prstGeom>
        </p:spPr>
      </p:pic>
    </p:spTree>
    <p:extLst>
      <p:ext uri="{BB962C8B-B14F-4D97-AF65-F5344CB8AC3E}">
        <p14:creationId xmlns:p14="http://schemas.microsoft.com/office/powerpoint/2010/main" val="3321127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90294C2-E015-59C7-A8B8-75D1D66885DA}"/>
              </a:ext>
            </a:extLst>
          </p:cNvPr>
          <p:cNvPicPr>
            <a:picLocks noChangeAspect="1"/>
          </p:cNvPicPr>
          <p:nvPr/>
        </p:nvPicPr>
        <p:blipFill>
          <a:blip r:embed="rId2"/>
          <a:stretch>
            <a:fillRect/>
          </a:stretch>
        </p:blipFill>
        <p:spPr>
          <a:xfrm>
            <a:off x="663993" y="897773"/>
            <a:ext cx="10864014" cy="5614903"/>
          </a:xfrm>
          <a:prstGeom prst="rect">
            <a:avLst/>
          </a:prstGeom>
        </p:spPr>
      </p:pic>
      <p:sp>
        <p:nvSpPr>
          <p:cNvPr id="2" name="TextBox 1">
            <a:extLst>
              <a:ext uri="{FF2B5EF4-FFF2-40B4-BE49-F238E27FC236}">
                <a16:creationId xmlns:a16="http://schemas.microsoft.com/office/drawing/2014/main" id="{ED3133D4-2663-506D-AFA3-AF21CD90D53D}"/>
              </a:ext>
            </a:extLst>
          </p:cNvPr>
          <p:cNvSpPr txBox="1"/>
          <p:nvPr/>
        </p:nvSpPr>
        <p:spPr>
          <a:xfrm>
            <a:off x="723899" y="304800"/>
            <a:ext cx="10048875" cy="523220"/>
          </a:xfrm>
          <a:prstGeom prst="rect">
            <a:avLst/>
          </a:prstGeom>
          <a:noFill/>
        </p:spPr>
        <p:txBody>
          <a:bodyPr wrap="square" rtlCol="0">
            <a:spAutoFit/>
          </a:bodyPr>
          <a:lstStyle/>
          <a:p>
            <a:r>
              <a:rPr lang="en-US" sz="2800" dirty="0"/>
              <a:t>Step 2: Enable System Managed ID</a:t>
            </a:r>
          </a:p>
        </p:txBody>
      </p:sp>
      <p:sp>
        <p:nvSpPr>
          <p:cNvPr id="4" name="TextBox 3">
            <a:extLst>
              <a:ext uri="{FF2B5EF4-FFF2-40B4-BE49-F238E27FC236}">
                <a16:creationId xmlns:a16="http://schemas.microsoft.com/office/drawing/2014/main" id="{1D98D19D-A316-5FE2-D086-743C160A8A70}"/>
              </a:ext>
            </a:extLst>
          </p:cNvPr>
          <p:cNvSpPr txBox="1"/>
          <p:nvPr/>
        </p:nvSpPr>
        <p:spPr>
          <a:xfrm>
            <a:off x="7048501" y="994114"/>
            <a:ext cx="3981450" cy="923330"/>
          </a:xfrm>
          <a:prstGeom prst="rect">
            <a:avLst/>
          </a:prstGeom>
          <a:noFill/>
        </p:spPr>
        <p:txBody>
          <a:bodyPr wrap="square" rtlCol="0">
            <a:spAutoFit/>
          </a:bodyPr>
          <a:lstStyle/>
          <a:p>
            <a:r>
              <a:rPr lang="en-US" dirty="0">
                <a:solidFill>
                  <a:srgbClr val="FF0000"/>
                </a:solidFill>
              </a:rPr>
              <a:t>*NOTE: </a:t>
            </a:r>
          </a:p>
          <a:p>
            <a:pPr marL="342900" indent="-342900">
              <a:buAutoNum type="arabicPeriod"/>
            </a:pPr>
            <a:r>
              <a:rPr lang="en-US" dirty="0">
                <a:solidFill>
                  <a:srgbClr val="FF0000"/>
                </a:solidFill>
              </a:rPr>
              <a:t>User Managed ID can be used too.</a:t>
            </a:r>
          </a:p>
          <a:p>
            <a:pPr marL="342900" indent="-342900">
              <a:buAutoNum type="arabicPeriod"/>
            </a:pPr>
            <a:r>
              <a:rPr lang="en-US" dirty="0">
                <a:solidFill>
                  <a:srgbClr val="FF0000"/>
                </a:solidFill>
              </a:rPr>
              <a:t>No role assignment is needed.</a:t>
            </a:r>
          </a:p>
        </p:txBody>
      </p:sp>
    </p:spTree>
    <p:extLst>
      <p:ext uri="{BB962C8B-B14F-4D97-AF65-F5344CB8AC3E}">
        <p14:creationId xmlns:p14="http://schemas.microsoft.com/office/powerpoint/2010/main" val="3574039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A324B-E73C-B9CB-8E81-4234376389CF}"/>
              </a:ext>
            </a:extLst>
          </p:cNvPr>
          <p:cNvSpPr txBox="1"/>
          <p:nvPr/>
        </p:nvSpPr>
        <p:spPr>
          <a:xfrm>
            <a:off x="895350" y="1285875"/>
            <a:ext cx="10229850" cy="3970318"/>
          </a:xfrm>
          <a:prstGeom prst="rect">
            <a:avLst/>
          </a:prstGeom>
          <a:solidFill>
            <a:schemeClr val="accent1"/>
          </a:solidFill>
        </p:spPr>
        <p:txBody>
          <a:bodyPr wrap="square" rtlCol="0">
            <a:spAutoFit/>
          </a:bodyPr>
          <a:lstStyle/>
          <a:p>
            <a:r>
              <a:rPr lang="en-US" dirty="0">
                <a:solidFill>
                  <a:schemeClr val="bg1"/>
                </a:solidFill>
              </a:rPr>
              <a:t>wget https://raw.githubusercontent.com/vinil-v/gpu-ib-monitoring/refs/heads/main/scripts/gpu-ib-mon_setup.sh -O gpu-ib-mon_setup.sh</a:t>
            </a:r>
          </a:p>
          <a:p>
            <a:r>
              <a:rPr lang="en-US" dirty="0" err="1">
                <a:solidFill>
                  <a:schemeClr val="bg1"/>
                </a:solidFill>
              </a:rPr>
              <a:t>chmod</a:t>
            </a:r>
            <a:r>
              <a:rPr lang="en-US" dirty="0">
                <a:solidFill>
                  <a:schemeClr val="bg1"/>
                </a:solidFill>
              </a:rPr>
              <a:t> +x gpu-ib-mon_setup.sh</a:t>
            </a:r>
          </a:p>
          <a:p>
            <a:r>
              <a:rPr lang="en-US" dirty="0">
                <a:solidFill>
                  <a:schemeClr val="bg1"/>
                </a:solidFill>
              </a:rPr>
              <a:t>./gpu-ib-mon_setup.sh</a:t>
            </a:r>
          </a:p>
          <a:p>
            <a:r>
              <a:rPr lang="en-US" dirty="0" err="1">
                <a:solidFill>
                  <a:schemeClr val="bg1"/>
                </a:solidFill>
              </a:rPr>
              <a:t>sudo</a:t>
            </a:r>
            <a:r>
              <a:rPr lang="en-US" dirty="0">
                <a:solidFill>
                  <a:schemeClr val="bg1"/>
                </a:solidFill>
              </a:rPr>
              <a:t> </a:t>
            </a:r>
            <a:r>
              <a:rPr lang="en-US" dirty="0" err="1">
                <a:solidFill>
                  <a:schemeClr val="bg1"/>
                </a:solidFill>
              </a:rPr>
              <a:t>telegraf</a:t>
            </a:r>
            <a:r>
              <a:rPr lang="en-US" dirty="0">
                <a:solidFill>
                  <a:schemeClr val="bg1"/>
                </a:solidFill>
              </a:rPr>
              <a:t> --config /</a:t>
            </a:r>
            <a:r>
              <a:rPr lang="en-US" dirty="0" err="1">
                <a:solidFill>
                  <a:schemeClr val="bg1"/>
                </a:solidFill>
              </a:rPr>
              <a:t>etc</a:t>
            </a:r>
            <a:r>
              <a:rPr lang="en-US" dirty="0">
                <a:solidFill>
                  <a:schemeClr val="bg1"/>
                </a:solidFill>
              </a:rPr>
              <a:t>/</a:t>
            </a:r>
            <a:r>
              <a:rPr lang="en-US" dirty="0" err="1">
                <a:solidFill>
                  <a:schemeClr val="bg1"/>
                </a:solidFill>
              </a:rPr>
              <a:t>telegraf</a:t>
            </a:r>
            <a:r>
              <a:rPr lang="en-US" dirty="0">
                <a:solidFill>
                  <a:schemeClr val="bg1"/>
                </a:solidFill>
              </a:rPr>
              <a:t>/</a:t>
            </a:r>
            <a:r>
              <a:rPr lang="en-US" dirty="0" err="1">
                <a:solidFill>
                  <a:schemeClr val="bg1"/>
                </a:solidFill>
              </a:rPr>
              <a:t>telegraf.conf</a:t>
            </a:r>
            <a:r>
              <a:rPr lang="en-US" dirty="0">
                <a:solidFill>
                  <a:schemeClr val="bg1"/>
                </a:solidFill>
              </a:rPr>
              <a:t> –test</a:t>
            </a:r>
          </a:p>
          <a:p>
            <a:r>
              <a:rPr lang="en-US" dirty="0">
                <a:solidFill>
                  <a:schemeClr val="bg1"/>
                </a:solidFill>
              </a:rPr>
              <a:t>…</a:t>
            </a:r>
          </a:p>
          <a:p>
            <a:r>
              <a:rPr lang="en-US" dirty="0" err="1">
                <a:solidFill>
                  <a:srgbClr val="FFFF00"/>
                </a:solidFill>
              </a:rPr>
              <a:t>infiniband,device</a:t>
            </a:r>
            <a:r>
              <a:rPr lang="en-US" dirty="0">
                <a:solidFill>
                  <a:srgbClr val="FFFF00"/>
                </a:solidFill>
              </a:rPr>
              <a:t>=mlx5_ib0</a:t>
            </a:r>
            <a:r>
              <a:rPr lang="en-US" dirty="0">
                <a:solidFill>
                  <a:schemeClr val="bg1"/>
                </a:solidFill>
              </a:rPr>
              <a:t>,host=vmss-somo000000,port=1 VL15_dropped=0,excessive_buffer_overrun_errors=0,link_downed=0,link_error_recovery=0,local_link_integrity_errors=0,multicast_rcv_packets=1,multicast_xmit_packets=10,port_rcv_constraint_errors=0,port_rcv_data=541,port_rcv_errors=0,port_rcv_packets=8,port_rcv_remote_physical_errors=0,port_rcv_switch_relay_errors=0,port_xmit_constraint_errors=0,port_xmit_data=878,port_xmit_discards=0,port_xmit_packets=17,port_xmit_wait=0,symbol_error=0,unicast_rcv_packets=7,unicast_xmit_packets=7 1747623517000000000</a:t>
            </a:r>
          </a:p>
          <a:p>
            <a:r>
              <a:rPr lang="en-US" dirty="0">
                <a:solidFill>
                  <a:schemeClr val="bg1"/>
                </a:solidFill>
              </a:rPr>
              <a:t>…</a:t>
            </a:r>
          </a:p>
        </p:txBody>
      </p:sp>
      <p:sp>
        <p:nvSpPr>
          <p:cNvPr id="5" name="TextBox 4">
            <a:extLst>
              <a:ext uri="{FF2B5EF4-FFF2-40B4-BE49-F238E27FC236}">
                <a16:creationId xmlns:a16="http://schemas.microsoft.com/office/drawing/2014/main" id="{BAC921FE-2DBC-E779-AA6C-C884DCDD8626}"/>
              </a:ext>
            </a:extLst>
          </p:cNvPr>
          <p:cNvSpPr txBox="1"/>
          <p:nvPr/>
        </p:nvSpPr>
        <p:spPr>
          <a:xfrm>
            <a:off x="723899" y="304800"/>
            <a:ext cx="10048875" cy="523220"/>
          </a:xfrm>
          <a:prstGeom prst="rect">
            <a:avLst/>
          </a:prstGeom>
          <a:noFill/>
        </p:spPr>
        <p:txBody>
          <a:bodyPr wrap="square" rtlCol="0">
            <a:spAutoFit/>
          </a:bodyPr>
          <a:lstStyle/>
          <a:p>
            <a:r>
              <a:rPr lang="en-US" sz="2800" dirty="0"/>
              <a:t>Step 3: Install &amp; set up </a:t>
            </a:r>
            <a:r>
              <a:rPr lang="en-US" sz="2800" dirty="0" err="1"/>
              <a:t>Telegraf</a:t>
            </a:r>
            <a:r>
              <a:rPr lang="en-US" sz="2800" dirty="0"/>
              <a:t> Agent inside VM/VMSS instances</a:t>
            </a:r>
          </a:p>
        </p:txBody>
      </p:sp>
    </p:spTree>
    <p:extLst>
      <p:ext uri="{BB962C8B-B14F-4D97-AF65-F5344CB8AC3E}">
        <p14:creationId xmlns:p14="http://schemas.microsoft.com/office/powerpoint/2010/main" val="3888420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13A075-F45D-8016-DFF3-8450C13D9F30}"/>
              </a:ext>
            </a:extLst>
          </p:cNvPr>
          <p:cNvPicPr>
            <a:picLocks noChangeAspect="1"/>
          </p:cNvPicPr>
          <p:nvPr/>
        </p:nvPicPr>
        <p:blipFill>
          <a:blip r:embed="rId2"/>
          <a:stretch>
            <a:fillRect/>
          </a:stretch>
        </p:blipFill>
        <p:spPr>
          <a:xfrm>
            <a:off x="776779" y="973220"/>
            <a:ext cx="10638442" cy="5425910"/>
          </a:xfrm>
          <a:prstGeom prst="rect">
            <a:avLst/>
          </a:prstGeom>
        </p:spPr>
      </p:pic>
      <p:sp>
        <p:nvSpPr>
          <p:cNvPr id="2" name="TextBox 1">
            <a:extLst>
              <a:ext uri="{FF2B5EF4-FFF2-40B4-BE49-F238E27FC236}">
                <a16:creationId xmlns:a16="http://schemas.microsoft.com/office/drawing/2014/main" id="{44250A9B-3BF3-CAA4-09CF-0F411BC0767C}"/>
              </a:ext>
            </a:extLst>
          </p:cNvPr>
          <p:cNvSpPr txBox="1"/>
          <p:nvPr/>
        </p:nvSpPr>
        <p:spPr>
          <a:xfrm>
            <a:off x="5276850" y="1570678"/>
            <a:ext cx="6915150" cy="369332"/>
          </a:xfrm>
          <a:prstGeom prst="rect">
            <a:avLst/>
          </a:prstGeom>
          <a:noFill/>
        </p:spPr>
        <p:txBody>
          <a:bodyPr wrap="square" rtlCol="0">
            <a:spAutoFit/>
          </a:bodyPr>
          <a:lstStyle/>
          <a:p>
            <a:r>
              <a:rPr lang="en-US" dirty="0">
                <a:solidFill>
                  <a:srgbClr val="FF0000"/>
                </a:solidFill>
              </a:rPr>
              <a:t>*NOTE: Select the scope at VMSS level, NOT VMSS instances level!</a:t>
            </a:r>
          </a:p>
        </p:txBody>
      </p:sp>
      <p:sp>
        <p:nvSpPr>
          <p:cNvPr id="4" name="TextBox 3">
            <a:extLst>
              <a:ext uri="{FF2B5EF4-FFF2-40B4-BE49-F238E27FC236}">
                <a16:creationId xmlns:a16="http://schemas.microsoft.com/office/drawing/2014/main" id="{DB124860-F9CA-8D85-6691-773DE3FDAA92}"/>
              </a:ext>
            </a:extLst>
          </p:cNvPr>
          <p:cNvSpPr txBox="1"/>
          <p:nvPr/>
        </p:nvSpPr>
        <p:spPr>
          <a:xfrm>
            <a:off x="723899" y="304800"/>
            <a:ext cx="10048875" cy="523220"/>
          </a:xfrm>
          <a:prstGeom prst="rect">
            <a:avLst/>
          </a:prstGeom>
          <a:noFill/>
        </p:spPr>
        <p:txBody>
          <a:bodyPr wrap="square" rtlCol="0">
            <a:spAutoFit/>
          </a:bodyPr>
          <a:lstStyle/>
          <a:p>
            <a:r>
              <a:rPr lang="en-US" sz="2800" dirty="0"/>
              <a:t>Step 4-1: Define Metrics Scope in Azure Monitor</a:t>
            </a:r>
          </a:p>
        </p:txBody>
      </p:sp>
    </p:spTree>
    <p:extLst>
      <p:ext uri="{BB962C8B-B14F-4D97-AF65-F5344CB8AC3E}">
        <p14:creationId xmlns:p14="http://schemas.microsoft.com/office/powerpoint/2010/main" val="3566499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36290-9B04-0EA9-A286-BCF86AF4C03F}"/>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A63ED76F-6828-2856-994C-2A02D0208C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900" y="1132069"/>
            <a:ext cx="11058526" cy="5100796"/>
          </a:xfrm>
          <a:prstGeom prst="rect">
            <a:avLst/>
          </a:prstGeom>
        </p:spPr>
      </p:pic>
      <p:sp>
        <p:nvSpPr>
          <p:cNvPr id="3" name="TextBox 2">
            <a:extLst>
              <a:ext uri="{FF2B5EF4-FFF2-40B4-BE49-F238E27FC236}">
                <a16:creationId xmlns:a16="http://schemas.microsoft.com/office/drawing/2014/main" id="{D392BB89-E09B-0191-965A-6BBF75787EBF}"/>
              </a:ext>
            </a:extLst>
          </p:cNvPr>
          <p:cNvSpPr txBox="1"/>
          <p:nvPr/>
        </p:nvSpPr>
        <p:spPr>
          <a:xfrm>
            <a:off x="723899" y="304800"/>
            <a:ext cx="10048875" cy="523220"/>
          </a:xfrm>
          <a:prstGeom prst="rect">
            <a:avLst/>
          </a:prstGeom>
          <a:noFill/>
        </p:spPr>
        <p:txBody>
          <a:bodyPr wrap="square" rtlCol="0">
            <a:spAutoFit/>
          </a:bodyPr>
          <a:lstStyle/>
          <a:p>
            <a:r>
              <a:rPr lang="en-US" sz="2800" dirty="0"/>
              <a:t>Step 4-2: Define Metrics Namespace in Azure Monitor</a:t>
            </a:r>
          </a:p>
        </p:txBody>
      </p:sp>
    </p:spTree>
    <p:extLst>
      <p:ext uri="{BB962C8B-B14F-4D97-AF65-F5344CB8AC3E}">
        <p14:creationId xmlns:p14="http://schemas.microsoft.com/office/powerpoint/2010/main" val="3736956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F3BBC20-B402-D9B3-F382-7BF130736E3B}"/>
              </a:ext>
            </a:extLst>
          </p:cNvPr>
          <p:cNvSpPr txBox="1"/>
          <p:nvPr/>
        </p:nvSpPr>
        <p:spPr>
          <a:xfrm>
            <a:off x="723899" y="304800"/>
            <a:ext cx="10048875" cy="523220"/>
          </a:xfrm>
          <a:prstGeom prst="rect">
            <a:avLst/>
          </a:prstGeom>
          <a:noFill/>
        </p:spPr>
        <p:txBody>
          <a:bodyPr wrap="square" rtlCol="0">
            <a:spAutoFit/>
          </a:bodyPr>
          <a:lstStyle/>
          <a:p>
            <a:r>
              <a:rPr lang="en-US" sz="2800" dirty="0"/>
              <a:t>Step 5: Check out metric data</a:t>
            </a:r>
          </a:p>
        </p:txBody>
      </p:sp>
      <p:pic>
        <p:nvPicPr>
          <p:cNvPr id="7" name="Picture 6">
            <a:extLst>
              <a:ext uri="{FF2B5EF4-FFF2-40B4-BE49-F238E27FC236}">
                <a16:creationId xmlns:a16="http://schemas.microsoft.com/office/drawing/2014/main" id="{FE0224C8-9872-2C5F-DB57-CD0E32F98002}"/>
              </a:ext>
            </a:extLst>
          </p:cNvPr>
          <p:cNvPicPr>
            <a:picLocks noChangeAspect="1"/>
          </p:cNvPicPr>
          <p:nvPr/>
        </p:nvPicPr>
        <p:blipFill>
          <a:blip r:embed="rId2"/>
          <a:stretch>
            <a:fillRect/>
          </a:stretch>
        </p:blipFill>
        <p:spPr>
          <a:xfrm>
            <a:off x="1621148" y="1170236"/>
            <a:ext cx="8949704" cy="4517528"/>
          </a:xfrm>
          <a:prstGeom prst="rect">
            <a:avLst/>
          </a:prstGeom>
        </p:spPr>
      </p:pic>
    </p:spTree>
    <p:extLst>
      <p:ext uri="{BB962C8B-B14F-4D97-AF65-F5344CB8AC3E}">
        <p14:creationId xmlns:p14="http://schemas.microsoft.com/office/powerpoint/2010/main" val="3512772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96B2E1-86B0-1234-5504-F052F278F579}"/>
              </a:ext>
            </a:extLst>
          </p:cNvPr>
          <p:cNvSpPr txBox="1"/>
          <p:nvPr/>
        </p:nvSpPr>
        <p:spPr>
          <a:xfrm>
            <a:off x="723899" y="304800"/>
            <a:ext cx="10048875" cy="523220"/>
          </a:xfrm>
          <a:prstGeom prst="rect">
            <a:avLst/>
          </a:prstGeom>
          <a:noFill/>
        </p:spPr>
        <p:txBody>
          <a:bodyPr wrap="square" rtlCol="0">
            <a:spAutoFit/>
          </a:bodyPr>
          <a:lstStyle/>
          <a:p>
            <a:r>
              <a:rPr lang="en-US" sz="2800" dirty="0"/>
              <a:t>References</a:t>
            </a:r>
          </a:p>
        </p:txBody>
      </p:sp>
      <p:sp>
        <p:nvSpPr>
          <p:cNvPr id="3" name="TextBox 2">
            <a:extLst>
              <a:ext uri="{FF2B5EF4-FFF2-40B4-BE49-F238E27FC236}">
                <a16:creationId xmlns:a16="http://schemas.microsoft.com/office/drawing/2014/main" id="{9F66C3DD-02FA-088C-2ED9-54573E120976}"/>
              </a:ext>
            </a:extLst>
          </p:cNvPr>
          <p:cNvSpPr txBox="1"/>
          <p:nvPr/>
        </p:nvSpPr>
        <p:spPr>
          <a:xfrm>
            <a:off x="790574" y="1057275"/>
            <a:ext cx="10048875" cy="1200329"/>
          </a:xfrm>
          <a:prstGeom prst="rect">
            <a:avLst/>
          </a:prstGeom>
          <a:noFill/>
        </p:spPr>
        <p:txBody>
          <a:bodyPr wrap="square" rtlCol="0">
            <a:spAutoFit/>
          </a:bodyPr>
          <a:lstStyle/>
          <a:p>
            <a:pPr marL="457200" indent="-457200">
              <a:buFont typeface="Arial" panose="020B0604020202020204" pitchFamily="34" charset="0"/>
              <a:buChar char="•"/>
            </a:pPr>
            <a:r>
              <a:rPr lang="en-US" sz="2400" dirty="0" err="1">
                <a:hlinkClick r:id="rId2">
                  <a:extLst>
                    <a:ext uri="{A12FA001-AC4F-418D-AE19-62706E023703}">
                      <ahyp:hlinkClr xmlns:ahyp="http://schemas.microsoft.com/office/drawing/2018/hyperlinkcolor" val="tx"/>
                    </a:ext>
                  </a:extLst>
                </a:hlinkClick>
              </a:rPr>
              <a:t>Telegraf</a:t>
            </a:r>
            <a:r>
              <a:rPr lang="en-US" sz="2400" dirty="0">
                <a:hlinkClick r:id="rId2">
                  <a:extLst>
                    <a:ext uri="{A12FA001-AC4F-418D-AE19-62706E023703}">
                      <ahyp:hlinkClr xmlns:ahyp="http://schemas.microsoft.com/office/drawing/2018/hyperlinkcolor" val="tx"/>
                    </a:ext>
                  </a:extLst>
                </a:hlinkClick>
              </a:rPr>
              <a:t> | </a:t>
            </a:r>
            <a:r>
              <a:rPr lang="en-US" sz="2400" dirty="0" err="1">
                <a:hlinkClick r:id="rId2">
                  <a:extLst>
                    <a:ext uri="{A12FA001-AC4F-418D-AE19-62706E023703}">
                      <ahyp:hlinkClr xmlns:ahyp="http://schemas.microsoft.com/office/drawing/2018/hyperlinkcolor" val="tx"/>
                    </a:ext>
                  </a:extLst>
                </a:hlinkClick>
              </a:rPr>
              <a:t>InfluxData</a:t>
            </a:r>
            <a:r>
              <a:rPr lang="en-US" sz="2400" dirty="0"/>
              <a:t> </a:t>
            </a:r>
          </a:p>
          <a:p>
            <a:pPr marL="457200" indent="-457200">
              <a:buFont typeface="Arial" panose="020B0604020202020204" pitchFamily="34" charset="0"/>
              <a:buChar char="•"/>
            </a:pPr>
            <a:r>
              <a:rPr lang="en-US" sz="2400" dirty="0">
                <a:hlinkClick r:id="rId3">
                  <a:extLst>
                    <a:ext uri="{A12FA001-AC4F-418D-AE19-62706E023703}">
                      <ahyp:hlinkClr xmlns:ahyp="http://schemas.microsoft.com/office/drawing/2018/hyperlinkcolor" val="tx"/>
                    </a:ext>
                  </a:extLst>
                </a:hlinkClick>
              </a:rPr>
              <a:t>Azure Monitor</a:t>
            </a:r>
            <a:endParaRPr lang="en-US" sz="2400" dirty="0"/>
          </a:p>
          <a:p>
            <a:pPr marL="457200" indent="-457200">
              <a:buFont typeface="Arial" panose="020B0604020202020204" pitchFamily="34" charset="0"/>
              <a:buChar char="•"/>
            </a:pPr>
            <a:r>
              <a:rPr lang="en-US" sz="2400" dirty="0">
                <a:hlinkClick r:id="rId4">
                  <a:extLst>
                    <a:ext uri="{A12FA001-AC4F-418D-AE19-62706E023703}">
                      <ahyp:hlinkClr xmlns:ahyp="http://schemas.microsoft.com/office/drawing/2018/hyperlinkcolor" val="tx"/>
                    </a:ext>
                  </a:extLst>
                </a:hlinkClick>
              </a:rPr>
              <a:t>Monitoring GPU &amp; Infiniband Using </a:t>
            </a:r>
            <a:r>
              <a:rPr lang="en-US" sz="2400" dirty="0" err="1">
                <a:hlinkClick r:id="rId4">
                  <a:extLst>
                    <a:ext uri="{A12FA001-AC4F-418D-AE19-62706E023703}">
                      <ahyp:hlinkClr xmlns:ahyp="http://schemas.microsoft.com/office/drawing/2018/hyperlinkcolor" val="tx"/>
                    </a:ext>
                  </a:extLst>
                </a:hlinkClick>
              </a:rPr>
              <a:t>Telegraf</a:t>
            </a:r>
            <a:r>
              <a:rPr lang="en-US" sz="2400" dirty="0">
                <a:hlinkClick r:id="rId4">
                  <a:extLst>
                    <a:ext uri="{A12FA001-AC4F-418D-AE19-62706E023703}">
                      <ahyp:hlinkClr xmlns:ahyp="http://schemas.microsoft.com/office/drawing/2018/hyperlinkcolor" val="tx"/>
                    </a:ext>
                  </a:extLst>
                </a:hlinkClick>
              </a:rPr>
              <a:t> and Azure Monitor</a:t>
            </a:r>
            <a:endParaRPr lang="en-US" sz="2400" dirty="0"/>
          </a:p>
        </p:txBody>
      </p:sp>
    </p:spTree>
    <p:extLst>
      <p:ext uri="{BB962C8B-B14F-4D97-AF65-F5344CB8AC3E}">
        <p14:creationId xmlns:p14="http://schemas.microsoft.com/office/powerpoint/2010/main" val="27610646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264</TotalTime>
  <Words>1378</Words>
  <Application>Microsoft Office PowerPoint</Application>
  <PresentationFormat>Widescreen</PresentationFormat>
  <Paragraphs>137</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Monitoring Nvidia GPUs &amp; Infiniband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Sooyoung Moon</dc:creator>
  <cp:lastModifiedBy>Sooyoung Moon</cp:lastModifiedBy>
  <cp:revision>2</cp:revision>
  <dcterms:created xsi:type="dcterms:W3CDTF">2025-05-16T05:21:27Z</dcterms:created>
  <dcterms:modified xsi:type="dcterms:W3CDTF">2025-09-02T05:39:14Z</dcterms:modified>
</cp:coreProperties>
</file>