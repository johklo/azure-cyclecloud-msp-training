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37"/>
  </p:notesMasterIdLst>
  <p:handoutMasterIdLst>
    <p:handoutMasterId r:id="rId38"/>
  </p:handoutMasterIdLst>
  <p:sldIdLst>
    <p:sldId id="1663" r:id="rId5"/>
    <p:sldId id="2051" r:id="rId6"/>
    <p:sldId id="2052" r:id="rId7"/>
    <p:sldId id="2053" r:id="rId8"/>
    <p:sldId id="2054" r:id="rId9"/>
    <p:sldId id="2055" r:id="rId10"/>
    <p:sldId id="2056" r:id="rId11"/>
    <p:sldId id="2057" r:id="rId12"/>
    <p:sldId id="2058" r:id="rId13"/>
    <p:sldId id="2059" r:id="rId14"/>
    <p:sldId id="2060" r:id="rId15"/>
    <p:sldId id="2061" r:id="rId16"/>
    <p:sldId id="2062" r:id="rId17"/>
    <p:sldId id="2078" r:id="rId18"/>
    <p:sldId id="2063" r:id="rId19"/>
    <p:sldId id="2064" r:id="rId20"/>
    <p:sldId id="2065" r:id="rId21"/>
    <p:sldId id="2066" r:id="rId22"/>
    <p:sldId id="2072" r:id="rId23"/>
    <p:sldId id="2079" r:id="rId24"/>
    <p:sldId id="2073" r:id="rId25"/>
    <p:sldId id="2081" r:id="rId26"/>
    <p:sldId id="2071" r:id="rId27"/>
    <p:sldId id="2067" r:id="rId28"/>
    <p:sldId id="2075" r:id="rId29"/>
    <p:sldId id="2068" r:id="rId30"/>
    <p:sldId id="2069" r:id="rId31"/>
    <p:sldId id="2076" r:id="rId32"/>
    <p:sldId id="2070" r:id="rId33"/>
    <p:sldId id="2080" r:id="rId34"/>
    <p:sldId id="2082" r:id="rId35"/>
    <p:sldId id="2077" r:id="rId3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id="{38B656EC-D568-4EF7-8842-9FA1AE1192C9}">
          <p14:sldIdLst>
            <p14:sldId id="1663"/>
            <p14:sldId id="2051"/>
            <p14:sldId id="2052"/>
            <p14:sldId id="2053"/>
            <p14:sldId id="2054"/>
            <p14:sldId id="2055"/>
            <p14:sldId id="2056"/>
            <p14:sldId id="2057"/>
            <p14:sldId id="2058"/>
            <p14:sldId id="2059"/>
            <p14:sldId id="2060"/>
            <p14:sldId id="2061"/>
            <p14:sldId id="2062"/>
            <p14:sldId id="2078"/>
            <p14:sldId id="2063"/>
            <p14:sldId id="2064"/>
            <p14:sldId id="2065"/>
            <p14:sldId id="2066"/>
            <p14:sldId id="2072"/>
            <p14:sldId id="2079"/>
            <p14:sldId id="2073"/>
            <p14:sldId id="2081"/>
            <p14:sldId id="2071"/>
            <p14:sldId id="2067"/>
            <p14:sldId id="2075"/>
            <p14:sldId id="2068"/>
            <p14:sldId id="2069"/>
            <p14:sldId id="2076"/>
            <p14:sldId id="2070"/>
            <p14:sldId id="2080"/>
            <p14:sldId id="2082"/>
            <p14:sldId id="2077"/>
          </p14:sldIdLst>
        </p14:section>
        <p14:section name="References" id="{6C020C94-25BA-4CB0-97CC-772B8E8D70E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50E6FF"/>
    <a:srgbClr val="0069BA"/>
    <a:srgbClr val="9BF00B"/>
    <a:srgbClr val="0F780F"/>
    <a:srgbClr val="107E10"/>
    <a:srgbClr val="0E700E"/>
    <a:srgbClr val="A3A3A3"/>
    <a:srgbClr val="D2D2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378" y="10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8/28/2025 9:27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8/28/2025 9:26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21E5A7B-BB8D-4368-A182-109669521632}"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93715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3820041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3441673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382076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322794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8/28/2025 9:26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660911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a:xfrm>
            <a:off x="0" y="0"/>
            <a:ext cx="2971800" cy="457200"/>
          </a:xfrm>
          <a:prstGeom prst="rect">
            <a:avLst/>
          </a:prstGeom>
        </p:spPr>
        <p:txBody>
          <a:bodyPr/>
          <a:lstStyle/>
          <a:p>
            <a:endParaRPr lang="en-US">
              <a:solidFill>
                <a:prstClr val="black"/>
              </a:solidFill>
            </a:endParaRPr>
          </a:p>
        </p:txBody>
      </p:sp>
      <p:sp>
        <p:nvSpPr>
          <p:cNvPr id="5" name="Date Placeholder 4"/>
          <p:cNvSpPr>
            <a:spLocks noGrp="1"/>
          </p:cNvSpPr>
          <p:nvPr>
            <p:ph type="dt" idx="11"/>
          </p:nvPr>
        </p:nvSpPr>
        <p:spPr/>
        <p:txBody>
          <a:bodyPr/>
          <a:lstStyle/>
          <a:p>
            <a:fld id="{0ECFDC7D-F4BE-4668-920D-08874925A5D7}" type="datetime8">
              <a:rPr lang="en-US" smtClean="0">
                <a:solidFill>
                  <a:prstClr val="black"/>
                </a:solidFill>
              </a:rPr>
              <a:t>8/28/2025 9:26 PM</a:t>
            </a:fld>
            <a:endParaRPr lang="en-US">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32</a:t>
            </a:fld>
            <a:endParaRPr lang="en-US">
              <a:solidFill>
                <a:prstClr val="black"/>
              </a:solidFill>
            </a:endParaRPr>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3643990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3" name="Picture 2" descr="A meeting in a conference room.">
            <a:extLst>
              <a:ext uri="{FF2B5EF4-FFF2-40B4-BE49-F238E27FC236}">
                <a16:creationId xmlns:a16="http://schemas.microsoft.com/office/drawing/2014/main" id="{1C493F8D-AB10-4958-85D1-CC12E3C2F13E}"/>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3" name="Picture 2" descr="A meeting in a conference room.">
            <a:extLst>
              <a:ext uri="{FF2B5EF4-FFF2-40B4-BE49-F238E27FC236}">
                <a16:creationId xmlns:a16="http://schemas.microsoft.com/office/drawing/2014/main" id="{73BBB57F-0AE7-43B4-A8A4-8A3F02549FB7}"/>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378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userDrawn="1">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4610" r:id="rId4"/>
    <p:sldLayoutId id="2147484710" r:id="rId5"/>
    <p:sldLayoutId id="2147484240" r:id="rId6"/>
    <p:sldLayoutId id="2147484910" r:id="rId7"/>
    <p:sldLayoutId id="2147484911" r:id="rId8"/>
    <p:sldLayoutId id="2147484639" r:id="rId9"/>
    <p:sldLayoutId id="2147484603" r:id="rId10"/>
    <p:sldLayoutId id="2147484833" r:id="rId11"/>
    <p:sldLayoutId id="2147484834" r:id="rId12"/>
    <p:sldLayoutId id="2147484835" r:id="rId13"/>
    <p:sldLayoutId id="2147484922" r:id="rId14"/>
    <p:sldLayoutId id="2147484923" r:id="rId15"/>
    <p:sldLayoutId id="2147484924" r:id="rId16"/>
    <p:sldLayoutId id="2147484839" r:id="rId17"/>
    <p:sldLayoutId id="2147484840" r:id="rId18"/>
    <p:sldLayoutId id="2147484841" r:id="rId19"/>
    <p:sldLayoutId id="2147484842" r:id="rId20"/>
    <p:sldLayoutId id="2147484843" r:id="rId21"/>
    <p:sldLayoutId id="2147484931" r:id="rId22"/>
    <p:sldLayoutId id="2147484787" r:id="rId23"/>
    <p:sldLayoutId id="2147484249" r:id="rId24"/>
    <p:sldLayoutId id="2147484640" r:id="rId25"/>
    <p:sldLayoutId id="2147484584" r:id="rId26"/>
    <p:sldLayoutId id="2147484583" r:id="rId27"/>
    <p:sldLayoutId id="2147484671" r:id="rId28"/>
    <p:sldLayoutId id="2147484673" r:id="rId29"/>
    <p:sldLayoutId id="2147484585" r:id="rId30"/>
    <p:sldLayoutId id="2147484299"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hyperlink" Target="https://slurm.schedmd.com/power_save.html" TargetMode="Externa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8263" y="2789532"/>
            <a:ext cx="4167887" cy="1107996"/>
          </a:xfrm>
        </p:spPr>
        <p:txBody>
          <a:bodyPr/>
          <a:lstStyle/>
          <a:p>
            <a:r>
              <a:rPr lang="en-US" dirty="0"/>
              <a:t>Fun with Slurm and </a:t>
            </a:r>
            <a:br>
              <a:rPr lang="en-US" dirty="0"/>
            </a:br>
            <a:r>
              <a:rPr lang="en-US" dirty="0"/>
              <a:t>Azure CycleCloud</a:t>
            </a:r>
          </a:p>
        </p:txBody>
      </p:sp>
    </p:spTree>
    <p:extLst>
      <p:ext uri="{BB962C8B-B14F-4D97-AF65-F5344CB8AC3E}">
        <p14:creationId xmlns:p14="http://schemas.microsoft.com/office/powerpoint/2010/main" val="2336616198"/>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7BF15BD-001C-49B3-9A01-B39DEDA47564}"/>
              </a:ext>
            </a:extLst>
          </p:cNvPr>
          <p:cNvSpPr>
            <a:spLocks noGrp="1"/>
          </p:cNvSpPr>
          <p:nvPr>
            <p:ph type="title"/>
          </p:nvPr>
        </p:nvSpPr>
        <p:spPr>
          <a:xfrm>
            <a:off x="585216" y="2309812"/>
            <a:ext cx="3182027" cy="553998"/>
          </a:xfrm>
        </p:spPr>
        <p:txBody>
          <a:bodyPr/>
          <a:lstStyle/>
          <a:p>
            <a:r>
              <a:rPr lang="en-US"/>
              <a:t>Agenda</a:t>
            </a:r>
          </a:p>
        </p:txBody>
      </p:sp>
      <p:sp>
        <p:nvSpPr>
          <p:cNvPr id="7" name="Text Placeholder 6">
            <a:extLst>
              <a:ext uri="{FF2B5EF4-FFF2-40B4-BE49-F238E27FC236}">
                <a16:creationId xmlns:a16="http://schemas.microsoft.com/office/drawing/2014/main" id="{61F6BD0B-C4D8-42DE-A3A7-50D8219CE639}"/>
              </a:ext>
            </a:extLst>
          </p:cNvPr>
          <p:cNvSpPr>
            <a:spLocks noGrp="1"/>
          </p:cNvSpPr>
          <p:nvPr>
            <p:ph type="body" sz="quarter" idx="11"/>
          </p:nvPr>
        </p:nvSpPr>
        <p:spPr>
          <a:xfrm>
            <a:off x="4354523" y="2309812"/>
            <a:ext cx="7254865" cy="2909514"/>
          </a:xfrm>
        </p:spPr>
        <p:txBody>
          <a:bodyPr/>
          <a:lstStyle/>
          <a:p>
            <a:r>
              <a:rPr lang="en-US"/>
              <a:t>What is Slurm?</a:t>
            </a:r>
          </a:p>
          <a:p>
            <a:r>
              <a:rPr lang="en-US"/>
              <a:t>Basic Slurm commands</a:t>
            </a:r>
          </a:p>
          <a:p>
            <a:r>
              <a:rPr lang="en-US"/>
              <a:t>Submitting a Job</a:t>
            </a:r>
          </a:p>
          <a:p>
            <a:r>
              <a:rPr lang="en-US"/>
              <a:t>Slurm + CycleCloud</a:t>
            </a:r>
          </a:p>
          <a:p>
            <a:r>
              <a:rPr lang="en-US"/>
              <a:t>Troubleshooting</a:t>
            </a:r>
          </a:p>
        </p:txBody>
      </p:sp>
    </p:spTree>
    <p:extLst>
      <p:ext uri="{BB962C8B-B14F-4D97-AF65-F5344CB8AC3E}">
        <p14:creationId xmlns:p14="http://schemas.microsoft.com/office/powerpoint/2010/main" val="41785654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3035808"/>
            <a:ext cx="9144000" cy="498598"/>
          </a:xfrm>
        </p:spPr>
        <p:txBody>
          <a:bodyPr/>
          <a:lstStyle/>
          <a:p>
            <a:r>
              <a:rPr lang="en-US"/>
              <a:t>What is Slurm?</a:t>
            </a:r>
          </a:p>
        </p:txBody>
      </p:sp>
    </p:spTree>
    <p:extLst>
      <p:ext uri="{BB962C8B-B14F-4D97-AF65-F5344CB8AC3E}">
        <p14:creationId xmlns:p14="http://schemas.microsoft.com/office/powerpoint/2010/main" val="23364597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F2E6-2408-4993-A67B-A78A495B3ED1}"/>
              </a:ext>
            </a:extLst>
          </p:cNvPr>
          <p:cNvSpPr>
            <a:spLocks noGrp="1"/>
          </p:cNvSpPr>
          <p:nvPr>
            <p:ph type="title"/>
          </p:nvPr>
        </p:nvSpPr>
        <p:spPr/>
        <p:txBody>
          <a:bodyPr/>
          <a:lstStyle/>
          <a:p>
            <a:r>
              <a:rPr lang="en-US"/>
              <a:t>What is Slurm</a:t>
            </a:r>
          </a:p>
        </p:txBody>
      </p:sp>
      <p:sp>
        <p:nvSpPr>
          <p:cNvPr id="3" name="Text Placeholder 2">
            <a:extLst>
              <a:ext uri="{FF2B5EF4-FFF2-40B4-BE49-F238E27FC236}">
                <a16:creationId xmlns:a16="http://schemas.microsoft.com/office/drawing/2014/main" id="{AE272AA3-3DBA-475B-B5A2-71F016FD5644}"/>
              </a:ext>
            </a:extLst>
          </p:cNvPr>
          <p:cNvSpPr>
            <a:spLocks noGrp="1"/>
          </p:cNvSpPr>
          <p:nvPr>
            <p:ph sz="quarter" idx="10"/>
          </p:nvPr>
        </p:nvSpPr>
        <p:spPr>
          <a:xfrm>
            <a:off x="584200" y="1435100"/>
            <a:ext cx="11018838" cy="3520964"/>
          </a:xfrm>
        </p:spPr>
        <p:txBody>
          <a:bodyPr/>
          <a:lstStyle/>
          <a:p>
            <a:r>
              <a:rPr lang="en-US"/>
              <a:t>Slurm is an open source HPC software resource manager and job scheduler developed and maintained by </a:t>
            </a:r>
            <a:r>
              <a:rPr lang="en-US" err="1"/>
              <a:t>SchedMD</a:t>
            </a:r>
            <a:endParaRPr lang="en-US"/>
          </a:p>
          <a:p>
            <a:pPr lvl="1"/>
            <a:r>
              <a:rPr lang="en-US"/>
              <a:t>Supports complex scheduling algorithms</a:t>
            </a:r>
          </a:p>
          <a:p>
            <a:pPr lvl="1"/>
            <a:r>
              <a:rPr lang="en-US"/>
              <a:t>Supports resource limits</a:t>
            </a:r>
          </a:p>
          <a:p>
            <a:pPr lvl="1"/>
            <a:r>
              <a:rPr lang="en-US"/>
              <a:t>Optimized for network topology</a:t>
            </a:r>
          </a:p>
          <a:p>
            <a:r>
              <a:rPr lang="en-US"/>
              <a:t>Used on many of the world’s largest supercomputers</a:t>
            </a:r>
          </a:p>
          <a:p>
            <a:r>
              <a:rPr lang="en-US"/>
              <a:t>Active global user community</a:t>
            </a:r>
          </a:p>
          <a:p>
            <a:r>
              <a:rPr lang="en-US"/>
              <a:t>Paid support provided through </a:t>
            </a:r>
            <a:r>
              <a:rPr lang="en-US" err="1"/>
              <a:t>SchedMD</a:t>
            </a:r>
            <a:endParaRPr lang="en-US"/>
          </a:p>
        </p:txBody>
      </p:sp>
    </p:spTree>
    <p:extLst>
      <p:ext uri="{BB962C8B-B14F-4D97-AF65-F5344CB8AC3E}">
        <p14:creationId xmlns:p14="http://schemas.microsoft.com/office/powerpoint/2010/main" val="28740693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C630-7148-4BCA-9F5D-ECF9B7F5EF75}"/>
              </a:ext>
            </a:extLst>
          </p:cNvPr>
          <p:cNvSpPr>
            <a:spLocks noGrp="1"/>
          </p:cNvSpPr>
          <p:nvPr>
            <p:ph type="title"/>
          </p:nvPr>
        </p:nvSpPr>
        <p:spPr/>
        <p:txBody>
          <a:bodyPr/>
          <a:lstStyle/>
          <a:p>
            <a:r>
              <a:rPr lang="en-US"/>
              <a:t>Slurm Design Goals</a:t>
            </a:r>
          </a:p>
        </p:txBody>
      </p:sp>
      <p:sp>
        <p:nvSpPr>
          <p:cNvPr id="3" name="Content Placeholder 2">
            <a:extLst>
              <a:ext uri="{FF2B5EF4-FFF2-40B4-BE49-F238E27FC236}">
                <a16:creationId xmlns:a16="http://schemas.microsoft.com/office/drawing/2014/main" id="{22D97C68-590D-4BAB-8FA9-EE7768E5601F}"/>
              </a:ext>
            </a:extLst>
          </p:cNvPr>
          <p:cNvSpPr>
            <a:spLocks noGrp="1"/>
          </p:cNvSpPr>
          <p:nvPr>
            <p:ph sz="quarter" idx="10"/>
          </p:nvPr>
        </p:nvSpPr>
        <p:spPr>
          <a:xfrm>
            <a:off x="584200" y="1435100"/>
            <a:ext cx="11018838" cy="3016210"/>
          </a:xfrm>
        </p:spPr>
        <p:txBody>
          <a:bodyPr/>
          <a:lstStyle/>
          <a:p>
            <a:r>
              <a:rPr lang="en-US"/>
              <a:t>Highly scalable (up to millions of cores)</a:t>
            </a:r>
          </a:p>
          <a:p>
            <a:r>
              <a:rPr lang="en-US"/>
              <a:t>Open source</a:t>
            </a:r>
          </a:p>
          <a:p>
            <a:r>
              <a:rPr lang="en-US"/>
              <a:t>System administrator friendly</a:t>
            </a:r>
          </a:p>
          <a:p>
            <a:r>
              <a:rPr lang="en-US"/>
              <a:t>Secure</a:t>
            </a:r>
          </a:p>
          <a:p>
            <a:r>
              <a:rPr lang="en-US"/>
              <a:t>Fault-tolerant (no single point of failure in some configurations)</a:t>
            </a:r>
          </a:p>
          <a:p>
            <a:r>
              <a:rPr lang="en-US"/>
              <a:t>Portable</a:t>
            </a:r>
          </a:p>
        </p:txBody>
      </p:sp>
    </p:spTree>
    <p:extLst>
      <p:ext uri="{BB962C8B-B14F-4D97-AF65-F5344CB8AC3E}">
        <p14:creationId xmlns:p14="http://schemas.microsoft.com/office/powerpoint/2010/main" val="34825337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7699-E0BB-43B4-892D-0046F6ACEEAE}"/>
              </a:ext>
            </a:extLst>
          </p:cNvPr>
          <p:cNvSpPr>
            <a:spLocks noGrp="1"/>
          </p:cNvSpPr>
          <p:nvPr>
            <p:ph type="title"/>
          </p:nvPr>
        </p:nvSpPr>
        <p:spPr>
          <a:xfrm>
            <a:off x="588263" y="457200"/>
            <a:ext cx="11018520" cy="553998"/>
          </a:xfrm>
        </p:spPr>
        <p:txBody>
          <a:bodyPr/>
          <a:lstStyle/>
          <a:p>
            <a:r>
              <a:rPr lang="en-US"/>
              <a:t>Slurm Terminology</a:t>
            </a:r>
          </a:p>
        </p:txBody>
      </p:sp>
      <p:sp>
        <p:nvSpPr>
          <p:cNvPr id="3" name="Content Placeholder 2">
            <a:extLst>
              <a:ext uri="{FF2B5EF4-FFF2-40B4-BE49-F238E27FC236}">
                <a16:creationId xmlns:a16="http://schemas.microsoft.com/office/drawing/2014/main" id="{42D7EE51-CD21-48C6-95BC-3BC27A0D5642}"/>
              </a:ext>
            </a:extLst>
          </p:cNvPr>
          <p:cNvSpPr>
            <a:spLocks noGrp="1"/>
          </p:cNvSpPr>
          <p:nvPr>
            <p:ph sz="quarter" idx="10"/>
          </p:nvPr>
        </p:nvSpPr>
        <p:spPr>
          <a:xfrm>
            <a:off x="584200" y="1435100"/>
            <a:ext cx="11018838" cy="3890296"/>
          </a:xfrm>
        </p:spPr>
        <p:txBody>
          <a:bodyPr/>
          <a:lstStyle/>
          <a:p>
            <a:r>
              <a:rPr lang="en-US"/>
              <a:t>Jobs: Resource allocation requests</a:t>
            </a:r>
          </a:p>
          <a:p>
            <a:r>
              <a:rPr lang="en-US"/>
              <a:t>Job steps: Set of (typically parallel) tasks</a:t>
            </a:r>
          </a:p>
          <a:p>
            <a:pPr lvl="1"/>
            <a:r>
              <a:rPr lang="en-US"/>
              <a:t>Typically an MPI, UPC, and/or multi-threaded application program</a:t>
            </a:r>
          </a:p>
          <a:p>
            <a:pPr lvl="1"/>
            <a:r>
              <a:rPr lang="en-US"/>
              <a:t>Allocated resources from the job’s allocation</a:t>
            </a:r>
          </a:p>
          <a:p>
            <a:pPr lvl="1"/>
            <a:r>
              <a:rPr lang="en-US"/>
              <a:t>Jobs can contain multiple job steps which are executed either concurrently or sequentially</a:t>
            </a:r>
          </a:p>
          <a:p>
            <a:pPr lvl="1"/>
            <a:r>
              <a:rPr lang="en-US"/>
              <a:t>Lighter weight than jobs</a:t>
            </a:r>
          </a:p>
          <a:p>
            <a:r>
              <a:rPr lang="en-US"/>
              <a:t>Partitions: Job queues with limits and access controls on a subset of nodes</a:t>
            </a:r>
          </a:p>
          <a:p>
            <a:pPr lvl="1"/>
            <a:r>
              <a:rPr lang="en-US"/>
              <a:t>Maps to a </a:t>
            </a:r>
            <a:r>
              <a:rPr lang="en-US" err="1"/>
              <a:t>NodeArray</a:t>
            </a:r>
            <a:r>
              <a:rPr lang="en-US"/>
              <a:t> in CycleCloud terms, and may map to one or more VM Scale Sets</a:t>
            </a:r>
          </a:p>
        </p:txBody>
      </p:sp>
    </p:spTree>
    <p:extLst>
      <p:ext uri="{BB962C8B-B14F-4D97-AF65-F5344CB8AC3E}">
        <p14:creationId xmlns:p14="http://schemas.microsoft.com/office/powerpoint/2010/main" val="218238536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5BFD-284C-4EBE-9C16-51D8D16BD5E3}"/>
              </a:ext>
            </a:extLst>
          </p:cNvPr>
          <p:cNvSpPr>
            <a:spLocks noGrp="1"/>
          </p:cNvSpPr>
          <p:nvPr>
            <p:ph type="title"/>
          </p:nvPr>
        </p:nvSpPr>
        <p:spPr/>
        <p:txBody>
          <a:bodyPr/>
          <a:lstStyle/>
          <a:p>
            <a:r>
              <a:rPr lang="en-US"/>
              <a:t>Node State Information (requestable resources)</a:t>
            </a:r>
          </a:p>
        </p:txBody>
      </p:sp>
      <p:sp>
        <p:nvSpPr>
          <p:cNvPr id="3" name="Content Placeholder 2">
            <a:extLst>
              <a:ext uri="{FF2B5EF4-FFF2-40B4-BE49-F238E27FC236}">
                <a16:creationId xmlns:a16="http://schemas.microsoft.com/office/drawing/2014/main" id="{2BABCA71-3D8C-4CF6-B6E4-7D440924EB00}"/>
              </a:ext>
            </a:extLst>
          </p:cNvPr>
          <p:cNvSpPr>
            <a:spLocks noGrp="1"/>
          </p:cNvSpPr>
          <p:nvPr>
            <p:ph sz="quarter" idx="10"/>
          </p:nvPr>
        </p:nvSpPr>
        <p:spPr>
          <a:xfrm>
            <a:off x="584200" y="1435100"/>
            <a:ext cx="11018838" cy="3533275"/>
          </a:xfrm>
        </p:spPr>
        <p:txBody>
          <a:bodyPr/>
          <a:lstStyle/>
          <a:p>
            <a:r>
              <a:rPr lang="en-US"/>
              <a:t>Baseboards, Sockets, Cores, Threads</a:t>
            </a:r>
          </a:p>
          <a:p>
            <a:r>
              <a:rPr lang="en-US"/>
              <a:t>CPUs (socket, core or thread count depending on configuration)</a:t>
            </a:r>
          </a:p>
          <a:p>
            <a:r>
              <a:rPr lang="en-US"/>
              <a:t>Memory size</a:t>
            </a:r>
          </a:p>
          <a:p>
            <a:r>
              <a:rPr lang="en-US"/>
              <a:t>Generic resources (with names, types, and counts, e.g. </a:t>
            </a:r>
            <a:r>
              <a:rPr lang="en-US" err="1"/>
              <a:t>gpus</a:t>
            </a:r>
            <a:r>
              <a:rPr lang="en-US"/>
              <a:t>)</a:t>
            </a:r>
          </a:p>
          <a:p>
            <a:r>
              <a:rPr lang="en-US"/>
              <a:t>Features (arbitrary string, e.g. OS version)</a:t>
            </a:r>
          </a:p>
          <a:p>
            <a:r>
              <a:rPr lang="en-US"/>
              <a:t>State (e.g. drain, down, etc.)</a:t>
            </a:r>
          </a:p>
          <a:p>
            <a:pPr marL="0" indent="0">
              <a:buNone/>
            </a:pPr>
            <a:endParaRPr lang="en-US"/>
          </a:p>
        </p:txBody>
      </p:sp>
    </p:spTree>
    <p:extLst>
      <p:ext uri="{BB962C8B-B14F-4D97-AF65-F5344CB8AC3E}">
        <p14:creationId xmlns:p14="http://schemas.microsoft.com/office/powerpoint/2010/main" val="11356451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D8019-22BD-4A46-B9DC-B27D77B78EE1}"/>
              </a:ext>
            </a:extLst>
          </p:cNvPr>
          <p:cNvSpPr>
            <a:spLocks noGrp="1"/>
          </p:cNvSpPr>
          <p:nvPr>
            <p:ph type="title"/>
          </p:nvPr>
        </p:nvSpPr>
        <p:spPr/>
        <p:txBody>
          <a:bodyPr/>
          <a:lstStyle/>
          <a:p>
            <a:r>
              <a:rPr lang="en-US"/>
              <a:t>Job States</a:t>
            </a:r>
          </a:p>
        </p:txBody>
      </p:sp>
      <p:pic>
        <p:nvPicPr>
          <p:cNvPr id="4" name="Content Placeholder 3">
            <a:extLst>
              <a:ext uri="{FF2B5EF4-FFF2-40B4-BE49-F238E27FC236}">
                <a16:creationId xmlns:a16="http://schemas.microsoft.com/office/drawing/2014/main" id="{61369A15-8A3C-4278-8C65-40B13B991AAB}"/>
              </a:ext>
            </a:extLst>
          </p:cNvPr>
          <p:cNvPicPr>
            <a:picLocks noGrp="1" noChangeAspect="1"/>
          </p:cNvPicPr>
          <p:nvPr>
            <p:ph sz="quarter" idx="10"/>
          </p:nvPr>
        </p:nvPicPr>
        <p:blipFill>
          <a:blip r:embed="rId2"/>
          <a:stretch>
            <a:fillRect/>
          </a:stretch>
        </p:blipFill>
        <p:spPr>
          <a:xfrm>
            <a:off x="584200" y="1827761"/>
            <a:ext cx="11018838" cy="4048615"/>
          </a:xfrm>
          <a:prstGeom prst="rect">
            <a:avLst/>
          </a:prstGeom>
        </p:spPr>
      </p:pic>
    </p:spTree>
    <p:extLst>
      <p:ext uri="{BB962C8B-B14F-4D97-AF65-F5344CB8AC3E}">
        <p14:creationId xmlns:p14="http://schemas.microsoft.com/office/powerpoint/2010/main" val="127416564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F6E01-5187-4759-98A1-8F454B79C9D2}"/>
              </a:ext>
            </a:extLst>
          </p:cNvPr>
          <p:cNvSpPr>
            <a:spLocks noGrp="1"/>
          </p:cNvSpPr>
          <p:nvPr>
            <p:ph type="title"/>
          </p:nvPr>
        </p:nvSpPr>
        <p:spPr>
          <a:xfrm>
            <a:off x="588263" y="457200"/>
            <a:ext cx="11018520" cy="553998"/>
          </a:xfrm>
        </p:spPr>
        <p:txBody>
          <a:bodyPr/>
          <a:lstStyle/>
          <a:p>
            <a:r>
              <a:rPr lang="en-US"/>
              <a:t>Daemons</a:t>
            </a:r>
          </a:p>
        </p:txBody>
      </p:sp>
      <p:sp>
        <p:nvSpPr>
          <p:cNvPr id="3" name="Content Placeholder 2">
            <a:extLst>
              <a:ext uri="{FF2B5EF4-FFF2-40B4-BE49-F238E27FC236}">
                <a16:creationId xmlns:a16="http://schemas.microsoft.com/office/drawing/2014/main" id="{853F4C2B-E8EE-45A0-B7A0-28955E5F0E12}"/>
              </a:ext>
            </a:extLst>
          </p:cNvPr>
          <p:cNvSpPr>
            <a:spLocks noGrp="1"/>
          </p:cNvSpPr>
          <p:nvPr>
            <p:ph sz="quarter" idx="10"/>
          </p:nvPr>
        </p:nvSpPr>
        <p:spPr>
          <a:xfrm>
            <a:off x="584200" y="1435100"/>
            <a:ext cx="11018838" cy="4271939"/>
          </a:xfrm>
        </p:spPr>
        <p:txBody>
          <a:bodyPr/>
          <a:lstStyle/>
          <a:p>
            <a:r>
              <a:rPr lang="en-US" b="1" dirty="0" err="1"/>
              <a:t>slurmctld</a:t>
            </a:r>
            <a:r>
              <a:rPr lang="en-US" dirty="0"/>
              <a:t> – Central controller (typically runs on “scheduler” node)</a:t>
            </a:r>
          </a:p>
          <a:p>
            <a:pPr lvl="1"/>
            <a:r>
              <a:rPr lang="en-US" dirty="0"/>
              <a:t>Monitors state of resources</a:t>
            </a:r>
          </a:p>
          <a:p>
            <a:pPr lvl="1"/>
            <a:r>
              <a:rPr lang="en-US" dirty="0"/>
              <a:t>Manages job queues</a:t>
            </a:r>
          </a:p>
          <a:p>
            <a:pPr lvl="1"/>
            <a:r>
              <a:rPr lang="en-US" dirty="0"/>
              <a:t>Allocates resources</a:t>
            </a:r>
          </a:p>
          <a:p>
            <a:pPr lvl="1"/>
            <a:r>
              <a:rPr lang="en-US" dirty="0"/>
              <a:t>Enforces policies</a:t>
            </a:r>
          </a:p>
          <a:p>
            <a:r>
              <a:rPr lang="en-US" b="1" dirty="0" err="1"/>
              <a:t>slurmd</a:t>
            </a:r>
            <a:r>
              <a:rPr lang="en-US" dirty="0"/>
              <a:t> – Compute node daemon</a:t>
            </a:r>
          </a:p>
          <a:p>
            <a:pPr lvl="1"/>
            <a:r>
              <a:rPr lang="en-US" dirty="0"/>
              <a:t>Typically one per compute node</a:t>
            </a:r>
          </a:p>
          <a:p>
            <a:pPr lvl="1"/>
            <a:r>
              <a:rPr lang="en-US" dirty="0"/>
              <a:t>Launches and manages </a:t>
            </a:r>
            <a:r>
              <a:rPr lang="en-US" dirty="0" err="1"/>
              <a:t>slurmstepd</a:t>
            </a:r>
            <a:endParaRPr lang="en-US" dirty="0"/>
          </a:p>
          <a:p>
            <a:pPr lvl="1"/>
            <a:r>
              <a:rPr lang="en-US" dirty="0"/>
              <a:t>Small and lightweight</a:t>
            </a:r>
          </a:p>
          <a:p>
            <a:pPr lvl="1"/>
            <a:r>
              <a:rPr lang="en-US" dirty="0"/>
              <a:t>Monitors local resources on compute nodes and reports back to </a:t>
            </a:r>
            <a:r>
              <a:rPr lang="en-US" dirty="0" err="1"/>
              <a:t>slurmctld</a:t>
            </a:r>
            <a:endParaRPr lang="en-US" dirty="0"/>
          </a:p>
          <a:p>
            <a:pPr lvl="1"/>
            <a:endParaRPr lang="en-US" dirty="0"/>
          </a:p>
        </p:txBody>
      </p:sp>
    </p:spTree>
    <p:extLst>
      <p:ext uri="{BB962C8B-B14F-4D97-AF65-F5344CB8AC3E}">
        <p14:creationId xmlns:p14="http://schemas.microsoft.com/office/powerpoint/2010/main" val="6152161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01451-6B7A-45A9-8B2C-0AC7FDAD9F6C}"/>
              </a:ext>
            </a:extLst>
          </p:cNvPr>
          <p:cNvSpPr>
            <a:spLocks noGrp="1"/>
          </p:cNvSpPr>
          <p:nvPr>
            <p:ph type="title"/>
          </p:nvPr>
        </p:nvSpPr>
        <p:spPr/>
        <p:txBody>
          <a:bodyPr/>
          <a:lstStyle/>
          <a:p>
            <a:r>
              <a:rPr lang="en-US"/>
              <a:t>Daemons</a:t>
            </a:r>
          </a:p>
        </p:txBody>
      </p:sp>
      <p:sp>
        <p:nvSpPr>
          <p:cNvPr id="3" name="Content Placeholder 2">
            <a:extLst>
              <a:ext uri="{FF2B5EF4-FFF2-40B4-BE49-F238E27FC236}">
                <a16:creationId xmlns:a16="http://schemas.microsoft.com/office/drawing/2014/main" id="{DE7DAA38-8CC7-4652-8F5D-26133D6407B1}"/>
              </a:ext>
            </a:extLst>
          </p:cNvPr>
          <p:cNvSpPr>
            <a:spLocks noGrp="1"/>
          </p:cNvSpPr>
          <p:nvPr>
            <p:ph sz="quarter" idx="10"/>
          </p:nvPr>
        </p:nvSpPr>
        <p:spPr>
          <a:xfrm>
            <a:off x="586581" y="1838512"/>
            <a:ext cx="11018838" cy="3225498"/>
          </a:xfrm>
        </p:spPr>
        <p:txBody>
          <a:bodyPr/>
          <a:lstStyle/>
          <a:p>
            <a:r>
              <a:rPr lang="en-US" b="1" dirty="0" err="1"/>
              <a:t>slurmstepd</a:t>
            </a:r>
            <a:r>
              <a:rPr lang="en-US" dirty="0"/>
              <a:t> – Job step shepherd</a:t>
            </a:r>
          </a:p>
          <a:p>
            <a:pPr lvl="1"/>
            <a:r>
              <a:rPr lang="en-US" dirty="0"/>
              <a:t>Launched for batch job and each job step</a:t>
            </a:r>
          </a:p>
          <a:p>
            <a:pPr lvl="1"/>
            <a:r>
              <a:rPr lang="en-US" dirty="0"/>
              <a:t>Launches user application tasks</a:t>
            </a:r>
          </a:p>
          <a:p>
            <a:pPr lvl="1"/>
            <a:r>
              <a:rPr lang="en-US" dirty="0"/>
              <a:t>Manages accounting, application I/O, signals, etc.</a:t>
            </a:r>
          </a:p>
          <a:p>
            <a:r>
              <a:rPr lang="en-US" b="1" dirty="0" err="1"/>
              <a:t>slurmdbd</a:t>
            </a:r>
            <a:r>
              <a:rPr lang="en-US" dirty="0"/>
              <a:t> – Database daemon (not configured by default prior to 8.1)</a:t>
            </a:r>
          </a:p>
          <a:p>
            <a:pPr lvl="1"/>
            <a:r>
              <a:rPr lang="en-US" dirty="0"/>
              <a:t>Collects accounting information</a:t>
            </a:r>
          </a:p>
          <a:p>
            <a:pPr lvl="1"/>
            <a:r>
              <a:rPr lang="en-US" dirty="0"/>
              <a:t>Manages user/group limits, fairshare, etc.</a:t>
            </a:r>
          </a:p>
        </p:txBody>
      </p:sp>
    </p:spTree>
    <p:extLst>
      <p:ext uri="{BB962C8B-B14F-4D97-AF65-F5344CB8AC3E}">
        <p14:creationId xmlns:p14="http://schemas.microsoft.com/office/powerpoint/2010/main" val="28444245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3035808"/>
            <a:ext cx="9144000" cy="498598"/>
          </a:xfrm>
        </p:spPr>
        <p:txBody>
          <a:bodyPr/>
          <a:lstStyle/>
          <a:p>
            <a:r>
              <a:rPr lang="en-US"/>
              <a:t>Basic Slurm Commands</a:t>
            </a:r>
          </a:p>
        </p:txBody>
      </p:sp>
    </p:spTree>
    <p:extLst>
      <p:ext uri="{BB962C8B-B14F-4D97-AF65-F5344CB8AC3E}">
        <p14:creationId xmlns:p14="http://schemas.microsoft.com/office/powerpoint/2010/main" val="57339469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C08756-A4AB-4F27-9EB3-276BF4FEEA0B}"/>
              </a:ext>
            </a:extLst>
          </p:cNvPr>
          <p:cNvSpPr>
            <a:spLocks noGrp="1"/>
          </p:cNvSpPr>
          <p:nvPr>
            <p:ph type="title"/>
          </p:nvPr>
        </p:nvSpPr>
        <p:spPr/>
        <p:txBody>
          <a:bodyPr/>
          <a:lstStyle/>
          <a:p>
            <a:r>
              <a:rPr lang="en-US"/>
              <a:t>Commands – General Info</a:t>
            </a:r>
          </a:p>
        </p:txBody>
      </p:sp>
      <p:sp>
        <p:nvSpPr>
          <p:cNvPr id="4" name="Content Placeholder 3">
            <a:extLst>
              <a:ext uri="{FF2B5EF4-FFF2-40B4-BE49-F238E27FC236}">
                <a16:creationId xmlns:a16="http://schemas.microsoft.com/office/drawing/2014/main" id="{CAD16D42-056E-431C-B5A5-86A55B678CFF}"/>
              </a:ext>
            </a:extLst>
          </p:cNvPr>
          <p:cNvSpPr>
            <a:spLocks noGrp="1"/>
          </p:cNvSpPr>
          <p:nvPr>
            <p:ph sz="quarter" idx="10"/>
          </p:nvPr>
        </p:nvSpPr>
        <p:spPr>
          <a:xfrm>
            <a:off x="584200" y="1435100"/>
            <a:ext cx="11018838" cy="4493538"/>
          </a:xfrm>
        </p:spPr>
        <p:txBody>
          <a:bodyPr/>
          <a:lstStyle/>
          <a:p>
            <a:r>
              <a:rPr lang="en-US"/>
              <a:t>Man pages available for all commands, daemons, and config files</a:t>
            </a:r>
          </a:p>
          <a:p>
            <a:pPr lvl="1"/>
            <a:r>
              <a:rPr lang="en-US"/>
              <a:t>--help option prints brief description of all options</a:t>
            </a:r>
          </a:p>
          <a:p>
            <a:pPr lvl="1"/>
            <a:r>
              <a:rPr lang="en-US"/>
              <a:t>--usage option prints a list of the options</a:t>
            </a:r>
          </a:p>
          <a:p>
            <a:r>
              <a:rPr lang="en-US"/>
              <a:t>Commands can be run on any node in the cluster</a:t>
            </a:r>
          </a:p>
          <a:p>
            <a:r>
              <a:rPr lang="en-US"/>
              <a:t>Any failure results in a non-zero exit code</a:t>
            </a:r>
          </a:p>
          <a:p>
            <a:r>
              <a:rPr lang="en-US"/>
              <a:t>Almost all commands have a single letter and verbose option</a:t>
            </a:r>
          </a:p>
          <a:p>
            <a:pPr lvl="1"/>
            <a:r>
              <a:rPr lang="en-US"/>
              <a:t>-p debug</a:t>
            </a:r>
          </a:p>
          <a:p>
            <a:pPr lvl="1"/>
            <a:r>
              <a:rPr lang="en-US"/>
              <a:t>--partition=debug</a:t>
            </a:r>
          </a:p>
          <a:p>
            <a:r>
              <a:rPr lang="en-US"/>
              <a:t>Almost all commands support verbose logging with –v</a:t>
            </a:r>
          </a:p>
          <a:p>
            <a:pPr lvl="1"/>
            <a:r>
              <a:rPr lang="en-US"/>
              <a:t>Use more v’s for more verbosity, e.g. -</a:t>
            </a:r>
            <a:r>
              <a:rPr lang="en-US" err="1"/>
              <a:t>vvvv</a:t>
            </a:r>
            <a:endParaRPr lang="en-US"/>
          </a:p>
        </p:txBody>
      </p:sp>
    </p:spTree>
    <p:extLst>
      <p:ext uri="{BB962C8B-B14F-4D97-AF65-F5344CB8AC3E}">
        <p14:creationId xmlns:p14="http://schemas.microsoft.com/office/powerpoint/2010/main" val="566511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61797-C601-4465-B5F6-06C0BC64D9C2}"/>
              </a:ext>
            </a:extLst>
          </p:cNvPr>
          <p:cNvSpPr>
            <a:spLocks noGrp="1"/>
          </p:cNvSpPr>
          <p:nvPr>
            <p:ph type="title"/>
          </p:nvPr>
        </p:nvSpPr>
        <p:spPr/>
        <p:txBody>
          <a:bodyPr/>
          <a:lstStyle/>
          <a:p>
            <a:r>
              <a:rPr lang="en-US"/>
              <a:t>Common Slurm Commands</a:t>
            </a:r>
          </a:p>
        </p:txBody>
      </p:sp>
      <p:sp>
        <p:nvSpPr>
          <p:cNvPr id="3" name="Content Placeholder 2">
            <a:extLst>
              <a:ext uri="{FF2B5EF4-FFF2-40B4-BE49-F238E27FC236}">
                <a16:creationId xmlns:a16="http://schemas.microsoft.com/office/drawing/2014/main" id="{A779EE19-48D4-4D26-857E-F749957B4560}"/>
              </a:ext>
            </a:extLst>
          </p:cNvPr>
          <p:cNvSpPr>
            <a:spLocks noGrp="1"/>
          </p:cNvSpPr>
          <p:nvPr>
            <p:ph sz="quarter" idx="10"/>
          </p:nvPr>
        </p:nvSpPr>
        <p:spPr>
          <a:xfrm>
            <a:off x="584200" y="1435100"/>
            <a:ext cx="11018838" cy="4936736"/>
          </a:xfrm>
        </p:spPr>
        <p:txBody>
          <a:bodyPr/>
          <a:lstStyle/>
          <a:p>
            <a:r>
              <a:rPr lang="en-US" err="1"/>
              <a:t>sbatch</a:t>
            </a:r>
            <a:r>
              <a:rPr lang="en-US"/>
              <a:t> – Submit a script for later execution (Batch mode)</a:t>
            </a:r>
          </a:p>
          <a:p>
            <a:pPr lvl="1"/>
            <a:r>
              <a:rPr lang="en-US"/>
              <a:t>Can submit a command directly with the `--wrap=“/bin/hostname”` argument</a:t>
            </a:r>
          </a:p>
          <a:p>
            <a:r>
              <a:rPr lang="en-US" err="1"/>
              <a:t>salloc</a:t>
            </a:r>
            <a:r>
              <a:rPr lang="en-US"/>
              <a:t> – Create a job allocation and start a shell to use it (Interactive)</a:t>
            </a:r>
          </a:p>
          <a:p>
            <a:r>
              <a:rPr lang="en-US" err="1"/>
              <a:t>srun</a:t>
            </a:r>
            <a:r>
              <a:rPr lang="en-US"/>
              <a:t> – Create a job allocation if needed and launch a job step</a:t>
            </a:r>
          </a:p>
          <a:p>
            <a:r>
              <a:rPr lang="en-US" err="1"/>
              <a:t>sattach</a:t>
            </a:r>
            <a:r>
              <a:rPr lang="en-US"/>
              <a:t> – Connect stdin/out/err for an existing job step</a:t>
            </a:r>
          </a:p>
          <a:p>
            <a:r>
              <a:rPr lang="en-US" err="1"/>
              <a:t>scancel</a:t>
            </a:r>
            <a:r>
              <a:rPr lang="en-US"/>
              <a:t> – Cancel a running or queued job</a:t>
            </a:r>
          </a:p>
          <a:p>
            <a:r>
              <a:rPr lang="en-US" err="1"/>
              <a:t>sinfo</a:t>
            </a:r>
            <a:r>
              <a:rPr lang="en-US"/>
              <a:t> – View status of nodes in the cluster</a:t>
            </a:r>
          </a:p>
          <a:p>
            <a:r>
              <a:rPr lang="en-US" err="1"/>
              <a:t>squeue</a:t>
            </a:r>
            <a:r>
              <a:rPr lang="en-US"/>
              <a:t> – View jobs in queue</a:t>
            </a:r>
          </a:p>
          <a:p>
            <a:r>
              <a:rPr lang="en-US" err="1"/>
              <a:t>scontrol</a:t>
            </a:r>
            <a:r>
              <a:rPr lang="en-US"/>
              <a:t> – View/edit scheduler and node configuration</a:t>
            </a:r>
          </a:p>
          <a:p>
            <a:endParaRPr lang="en-US"/>
          </a:p>
        </p:txBody>
      </p:sp>
    </p:spTree>
    <p:extLst>
      <p:ext uri="{BB962C8B-B14F-4D97-AF65-F5344CB8AC3E}">
        <p14:creationId xmlns:p14="http://schemas.microsoft.com/office/powerpoint/2010/main" val="95769391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3035808"/>
            <a:ext cx="9144000" cy="498598"/>
          </a:xfrm>
        </p:spPr>
        <p:txBody>
          <a:bodyPr/>
          <a:lstStyle/>
          <a:p>
            <a:r>
              <a:rPr lang="en-US"/>
              <a:t>Submitting a Job</a:t>
            </a:r>
          </a:p>
        </p:txBody>
      </p:sp>
    </p:spTree>
    <p:extLst>
      <p:ext uri="{BB962C8B-B14F-4D97-AF65-F5344CB8AC3E}">
        <p14:creationId xmlns:p14="http://schemas.microsoft.com/office/powerpoint/2010/main" val="321594359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E1A08-E806-43DA-BBA1-7B6EA7638253}"/>
              </a:ext>
            </a:extLst>
          </p:cNvPr>
          <p:cNvSpPr>
            <a:spLocks noGrp="1"/>
          </p:cNvSpPr>
          <p:nvPr>
            <p:ph type="title"/>
          </p:nvPr>
        </p:nvSpPr>
        <p:spPr>
          <a:xfrm>
            <a:off x="588263" y="457200"/>
            <a:ext cx="11018520" cy="553998"/>
          </a:xfrm>
        </p:spPr>
        <p:txBody>
          <a:bodyPr/>
          <a:lstStyle/>
          <a:p>
            <a:r>
              <a:rPr lang="en-US"/>
              <a:t>Example job script submission</a:t>
            </a:r>
          </a:p>
        </p:txBody>
      </p:sp>
      <p:sp>
        <p:nvSpPr>
          <p:cNvPr id="5" name="Content Placeholder 4">
            <a:extLst>
              <a:ext uri="{FF2B5EF4-FFF2-40B4-BE49-F238E27FC236}">
                <a16:creationId xmlns:a16="http://schemas.microsoft.com/office/drawing/2014/main" id="{15FA43DF-20D9-4399-B9D0-620F46551B1E}"/>
              </a:ext>
            </a:extLst>
          </p:cNvPr>
          <p:cNvSpPr>
            <a:spLocks noGrp="1"/>
          </p:cNvSpPr>
          <p:nvPr>
            <p:ph sz="quarter" idx="10"/>
          </p:nvPr>
        </p:nvSpPr>
        <p:spPr/>
        <p:txBody>
          <a:bodyPr/>
          <a:lstStyle/>
          <a:p>
            <a:endParaRPr lang="en-US"/>
          </a:p>
        </p:txBody>
      </p:sp>
      <p:pic>
        <p:nvPicPr>
          <p:cNvPr id="7" name="Picture 6">
            <a:extLst>
              <a:ext uri="{FF2B5EF4-FFF2-40B4-BE49-F238E27FC236}">
                <a16:creationId xmlns:a16="http://schemas.microsoft.com/office/drawing/2014/main" id="{9E19C6C6-A708-431F-8E7C-FE829837FCD9}"/>
              </a:ext>
            </a:extLst>
          </p:cNvPr>
          <p:cNvPicPr>
            <a:picLocks noChangeAspect="1"/>
          </p:cNvPicPr>
          <p:nvPr/>
        </p:nvPicPr>
        <p:blipFill>
          <a:blip r:embed="rId2"/>
          <a:stretch>
            <a:fillRect/>
          </a:stretch>
        </p:blipFill>
        <p:spPr>
          <a:xfrm>
            <a:off x="436809" y="1521993"/>
            <a:ext cx="11313619" cy="3570511"/>
          </a:xfrm>
          <a:prstGeom prst="rect">
            <a:avLst/>
          </a:prstGeom>
        </p:spPr>
      </p:pic>
    </p:spTree>
    <p:extLst>
      <p:ext uri="{BB962C8B-B14F-4D97-AF65-F5344CB8AC3E}">
        <p14:creationId xmlns:p14="http://schemas.microsoft.com/office/powerpoint/2010/main" val="400213068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9032-C83A-4A5A-8523-3A8DB3A27EEC}"/>
              </a:ext>
            </a:extLst>
          </p:cNvPr>
          <p:cNvSpPr>
            <a:spLocks noGrp="1"/>
          </p:cNvSpPr>
          <p:nvPr>
            <p:ph type="title"/>
          </p:nvPr>
        </p:nvSpPr>
        <p:spPr/>
        <p:txBody>
          <a:bodyPr/>
          <a:lstStyle/>
          <a:p>
            <a:r>
              <a:rPr lang="en-US"/>
              <a:t>Example MPI job</a:t>
            </a:r>
          </a:p>
        </p:txBody>
      </p:sp>
      <p:pic>
        <p:nvPicPr>
          <p:cNvPr id="5" name="Content Placeholder 4">
            <a:extLst>
              <a:ext uri="{FF2B5EF4-FFF2-40B4-BE49-F238E27FC236}">
                <a16:creationId xmlns:a16="http://schemas.microsoft.com/office/drawing/2014/main" id="{2E2BC582-8635-4E31-92DF-F6704FB80151}"/>
              </a:ext>
            </a:extLst>
          </p:cNvPr>
          <p:cNvPicPr>
            <a:picLocks noGrp="1" noChangeAspect="1"/>
          </p:cNvPicPr>
          <p:nvPr>
            <p:ph sz="quarter" idx="10"/>
          </p:nvPr>
        </p:nvPicPr>
        <p:blipFill rotWithShape="1">
          <a:blip r:embed="rId2"/>
          <a:srcRect t="4156"/>
          <a:stretch/>
        </p:blipFill>
        <p:spPr>
          <a:xfrm>
            <a:off x="1281036" y="1190812"/>
            <a:ext cx="9858527" cy="2980002"/>
          </a:xfrm>
        </p:spPr>
      </p:pic>
      <p:pic>
        <p:nvPicPr>
          <p:cNvPr id="7" name="Picture 6">
            <a:extLst>
              <a:ext uri="{FF2B5EF4-FFF2-40B4-BE49-F238E27FC236}">
                <a16:creationId xmlns:a16="http://schemas.microsoft.com/office/drawing/2014/main" id="{EBAA4AF5-EC80-4653-AABF-B4F71D7B4E0A}"/>
              </a:ext>
            </a:extLst>
          </p:cNvPr>
          <p:cNvPicPr>
            <a:picLocks noChangeAspect="1"/>
          </p:cNvPicPr>
          <p:nvPr/>
        </p:nvPicPr>
        <p:blipFill>
          <a:blip r:embed="rId3"/>
          <a:stretch>
            <a:fillRect/>
          </a:stretch>
        </p:blipFill>
        <p:spPr>
          <a:xfrm>
            <a:off x="751504" y="4693328"/>
            <a:ext cx="10688992" cy="1316760"/>
          </a:xfrm>
          <a:prstGeom prst="rect">
            <a:avLst/>
          </a:prstGeom>
        </p:spPr>
      </p:pic>
    </p:spTree>
    <p:extLst>
      <p:ext uri="{BB962C8B-B14F-4D97-AF65-F5344CB8AC3E}">
        <p14:creationId xmlns:p14="http://schemas.microsoft.com/office/powerpoint/2010/main" val="349650809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ED7F-38B7-41E4-BD1A-E270A59AB348}"/>
              </a:ext>
            </a:extLst>
          </p:cNvPr>
          <p:cNvSpPr>
            <a:spLocks noGrp="1"/>
          </p:cNvSpPr>
          <p:nvPr>
            <p:ph type="title"/>
          </p:nvPr>
        </p:nvSpPr>
        <p:spPr>
          <a:xfrm>
            <a:off x="588263" y="457200"/>
            <a:ext cx="11018520" cy="553998"/>
          </a:xfrm>
        </p:spPr>
        <p:txBody>
          <a:bodyPr/>
          <a:lstStyle/>
          <a:p>
            <a:r>
              <a:rPr lang="en-US"/>
              <a:t>Monitoring/Checking nodes (</a:t>
            </a:r>
            <a:r>
              <a:rPr lang="en-US" err="1"/>
              <a:t>sinfo</a:t>
            </a:r>
            <a:r>
              <a:rPr lang="en-US"/>
              <a:t>)</a:t>
            </a:r>
          </a:p>
        </p:txBody>
      </p:sp>
      <p:sp>
        <p:nvSpPr>
          <p:cNvPr id="3" name="Content Placeholder 2">
            <a:extLst>
              <a:ext uri="{FF2B5EF4-FFF2-40B4-BE49-F238E27FC236}">
                <a16:creationId xmlns:a16="http://schemas.microsoft.com/office/drawing/2014/main" id="{C5BA7C6A-4ED2-4806-89DF-C633D95FD789}"/>
              </a:ext>
            </a:extLst>
          </p:cNvPr>
          <p:cNvSpPr>
            <a:spLocks noGrp="1"/>
          </p:cNvSpPr>
          <p:nvPr>
            <p:ph sz="quarter" idx="10"/>
          </p:nvPr>
        </p:nvSpPr>
        <p:spPr>
          <a:xfrm>
            <a:off x="584200" y="1435100"/>
            <a:ext cx="11018838" cy="430887"/>
          </a:xfrm>
        </p:spPr>
        <p:txBody>
          <a:bodyPr/>
          <a:lstStyle/>
          <a:p>
            <a:endParaRPr lang="en-US"/>
          </a:p>
        </p:txBody>
      </p:sp>
      <p:pic>
        <p:nvPicPr>
          <p:cNvPr id="5" name="Picture 4">
            <a:extLst>
              <a:ext uri="{FF2B5EF4-FFF2-40B4-BE49-F238E27FC236}">
                <a16:creationId xmlns:a16="http://schemas.microsoft.com/office/drawing/2014/main" id="{2B680ED9-3AF5-439C-934E-58FB002903BD}"/>
              </a:ext>
            </a:extLst>
          </p:cNvPr>
          <p:cNvPicPr>
            <a:picLocks noChangeAspect="1"/>
          </p:cNvPicPr>
          <p:nvPr/>
        </p:nvPicPr>
        <p:blipFill>
          <a:blip r:embed="rId2"/>
          <a:stretch>
            <a:fillRect/>
          </a:stretch>
        </p:blipFill>
        <p:spPr>
          <a:xfrm>
            <a:off x="584200" y="1435100"/>
            <a:ext cx="11073626" cy="2501900"/>
          </a:xfrm>
          <a:prstGeom prst="rect">
            <a:avLst/>
          </a:prstGeom>
        </p:spPr>
      </p:pic>
    </p:spTree>
    <p:extLst>
      <p:ext uri="{BB962C8B-B14F-4D97-AF65-F5344CB8AC3E}">
        <p14:creationId xmlns:p14="http://schemas.microsoft.com/office/powerpoint/2010/main" val="210649920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B257-0C19-45F6-BFBB-64C6AC5D7B6A}"/>
              </a:ext>
            </a:extLst>
          </p:cNvPr>
          <p:cNvSpPr>
            <a:spLocks noGrp="1"/>
          </p:cNvSpPr>
          <p:nvPr>
            <p:ph type="title"/>
          </p:nvPr>
        </p:nvSpPr>
        <p:spPr>
          <a:xfrm>
            <a:off x="588263" y="457200"/>
            <a:ext cx="11018520" cy="553998"/>
          </a:xfrm>
        </p:spPr>
        <p:txBody>
          <a:bodyPr/>
          <a:lstStyle/>
          <a:p>
            <a:r>
              <a:rPr lang="en-US"/>
              <a:t>Node State Codes (From man page of </a:t>
            </a:r>
            <a:r>
              <a:rPr lang="en-US" err="1"/>
              <a:t>sinfo</a:t>
            </a:r>
            <a:r>
              <a:rPr lang="en-US"/>
              <a:t>)</a:t>
            </a:r>
          </a:p>
        </p:txBody>
      </p:sp>
      <p:sp>
        <p:nvSpPr>
          <p:cNvPr id="3" name="Content Placeholder 2">
            <a:extLst>
              <a:ext uri="{FF2B5EF4-FFF2-40B4-BE49-F238E27FC236}">
                <a16:creationId xmlns:a16="http://schemas.microsoft.com/office/drawing/2014/main" id="{F7873AF8-CF78-4B27-B8D6-C940E496C85F}"/>
              </a:ext>
            </a:extLst>
          </p:cNvPr>
          <p:cNvSpPr>
            <a:spLocks noGrp="1"/>
          </p:cNvSpPr>
          <p:nvPr>
            <p:ph sz="quarter" idx="10"/>
          </p:nvPr>
        </p:nvSpPr>
        <p:spPr>
          <a:xfrm>
            <a:off x="584200" y="1435100"/>
            <a:ext cx="11018838" cy="4825937"/>
          </a:xfrm>
        </p:spPr>
        <p:txBody>
          <a:bodyPr/>
          <a:lstStyle/>
          <a:p>
            <a:pPr marL="0" indent="0">
              <a:buNone/>
            </a:pPr>
            <a:r>
              <a:rPr lang="en-US"/>
              <a:t> 	*   The node is presently not responding and will not be allocated any new work.  If the node remains non-responsive, it will be placed in the  DOWN  state  (except  in  the  case  of  COMPLETING, DRAINED, DRAINING, FAIL, FAILING nodes).</a:t>
            </a:r>
          </a:p>
          <a:p>
            <a:pPr marL="0" indent="0">
              <a:buNone/>
            </a:pPr>
            <a:endParaRPr lang="en-US"/>
          </a:p>
          <a:p>
            <a:pPr marL="0" indent="0">
              <a:buNone/>
            </a:pPr>
            <a:r>
              <a:rPr lang="en-US"/>
              <a:t>	~   The node is presently in a power saving mode</a:t>
            </a:r>
          </a:p>
          <a:p>
            <a:pPr marL="0" indent="0">
              <a:buNone/>
            </a:pPr>
            <a:endParaRPr lang="en-US"/>
          </a:p>
          <a:p>
            <a:pPr marL="0" indent="0">
              <a:buNone/>
            </a:pPr>
            <a:r>
              <a:rPr lang="en-US"/>
              <a:t>       #   The node is presently being powered up or configured.</a:t>
            </a:r>
          </a:p>
          <a:p>
            <a:pPr marL="0" indent="0">
              <a:buNone/>
            </a:pPr>
            <a:endParaRPr lang="en-US"/>
          </a:p>
          <a:p>
            <a:pPr marL="0" indent="0">
              <a:buNone/>
            </a:pPr>
            <a:r>
              <a:rPr lang="en-US"/>
              <a:t>       %   The node is presently being powered down.</a:t>
            </a:r>
          </a:p>
        </p:txBody>
      </p:sp>
    </p:spTree>
    <p:extLst>
      <p:ext uri="{BB962C8B-B14F-4D97-AF65-F5344CB8AC3E}">
        <p14:creationId xmlns:p14="http://schemas.microsoft.com/office/powerpoint/2010/main" val="16523699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3035808"/>
            <a:ext cx="9144000" cy="498598"/>
          </a:xfrm>
        </p:spPr>
        <p:txBody>
          <a:bodyPr/>
          <a:lstStyle/>
          <a:p>
            <a:r>
              <a:rPr lang="en-US"/>
              <a:t>Slurm + CycleCloud</a:t>
            </a:r>
          </a:p>
        </p:txBody>
      </p:sp>
    </p:spTree>
    <p:extLst>
      <p:ext uri="{BB962C8B-B14F-4D97-AF65-F5344CB8AC3E}">
        <p14:creationId xmlns:p14="http://schemas.microsoft.com/office/powerpoint/2010/main" val="122295277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82C52-DC11-462F-95D3-77615D5E0820}"/>
              </a:ext>
            </a:extLst>
          </p:cNvPr>
          <p:cNvSpPr>
            <a:spLocks noGrp="1"/>
          </p:cNvSpPr>
          <p:nvPr>
            <p:ph type="title"/>
          </p:nvPr>
        </p:nvSpPr>
        <p:spPr/>
        <p:txBody>
          <a:bodyPr/>
          <a:lstStyle/>
          <a:p>
            <a:r>
              <a:rPr lang="en-US"/>
              <a:t>Differences from other cluster types</a:t>
            </a:r>
          </a:p>
        </p:txBody>
      </p:sp>
      <p:sp>
        <p:nvSpPr>
          <p:cNvPr id="3" name="Content Placeholder 2">
            <a:extLst>
              <a:ext uri="{FF2B5EF4-FFF2-40B4-BE49-F238E27FC236}">
                <a16:creationId xmlns:a16="http://schemas.microsoft.com/office/drawing/2014/main" id="{D6F130F9-E366-44DB-9230-4A3012C48BC4}"/>
              </a:ext>
            </a:extLst>
          </p:cNvPr>
          <p:cNvSpPr>
            <a:spLocks noGrp="1"/>
          </p:cNvSpPr>
          <p:nvPr>
            <p:ph sz="quarter" idx="10"/>
          </p:nvPr>
        </p:nvSpPr>
        <p:spPr>
          <a:xfrm>
            <a:off x="584200" y="1435100"/>
            <a:ext cx="11018838" cy="4665893"/>
          </a:xfrm>
        </p:spPr>
        <p:txBody>
          <a:bodyPr/>
          <a:lstStyle/>
          <a:p>
            <a:r>
              <a:rPr lang="en-US"/>
              <a:t>Requires all nodes in the cluster to be pre-defined in the config file</a:t>
            </a:r>
          </a:p>
          <a:p>
            <a:pPr lvl="1"/>
            <a:r>
              <a:rPr lang="en-US"/>
              <a:t>Starting a new cluster will create placeholder execute </a:t>
            </a:r>
            <a:r>
              <a:rPr lang="en-US" err="1"/>
              <a:t>nodearrays</a:t>
            </a:r>
            <a:r>
              <a:rPr lang="en-US"/>
              <a:t> in the “Off” state</a:t>
            </a:r>
          </a:p>
          <a:p>
            <a:pPr lvl="1"/>
            <a:r>
              <a:rPr lang="en-US"/>
              <a:t>Any changes to the cluster configuration require running the “cyclecloud_slurm.sh scale” command on the Scheduler</a:t>
            </a:r>
          </a:p>
          <a:p>
            <a:pPr lvl="1"/>
            <a:r>
              <a:rPr lang="en-US">
                <a:solidFill>
                  <a:srgbClr val="FF0000"/>
                </a:solidFill>
              </a:rPr>
              <a:t>Major changes such as reducing the max size of a partition or changing machine types may cause running jobs to fail</a:t>
            </a:r>
          </a:p>
          <a:p>
            <a:pPr lvl="1"/>
            <a:endParaRPr lang="en-US">
              <a:solidFill>
                <a:srgbClr val="FF0000"/>
              </a:solidFill>
            </a:endParaRPr>
          </a:p>
          <a:p>
            <a:endParaRPr lang="en-US">
              <a:solidFill>
                <a:srgbClr val="000000"/>
              </a:solidFill>
            </a:endParaRPr>
          </a:p>
          <a:p>
            <a:r>
              <a:rPr lang="en-US">
                <a:solidFill>
                  <a:srgbClr val="000000"/>
                </a:solidFill>
              </a:rPr>
              <a:t>“</a:t>
            </a:r>
            <a:r>
              <a:rPr lang="en-US" err="1">
                <a:solidFill>
                  <a:srgbClr val="000000"/>
                </a:solidFill>
              </a:rPr>
              <a:t>KeepAlive</a:t>
            </a:r>
            <a:r>
              <a:rPr lang="en-US">
                <a:solidFill>
                  <a:srgbClr val="000000"/>
                </a:solidFill>
              </a:rPr>
              <a:t>” button in CycleCloud doesn’t prevent nodes from being requested for shutdown by Slurm</a:t>
            </a:r>
          </a:p>
          <a:p>
            <a:pPr lvl="1"/>
            <a:r>
              <a:rPr lang="en-US">
                <a:solidFill>
                  <a:srgbClr val="000000"/>
                </a:solidFill>
              </a:rPr>
              <a:t>Instead nodes or partitions need to be added to the </a:t>
            </a:r>
            <a:r>
              <a:rPr lang="en-US" err="1">
                <a:solidFill>
                  <a:srgbClr val="000000"/>
                </a:solidFill>
              </a:rPr>
              <a:t>SuspendExcNodes</a:t>
            </a:r>
            <a:r>
              <a:rPr lang="en-US">
                <a:solidFill>
                  <a:srgbClr val="000000"/>
                </a:solidFill>
              </a:rPr>
              <a:t> or </a:t>
            </a:r>
            <a:r>
              <a:rPr lang="en-US" err="1">
                <a:solidFill>
                  <a:srgbClr val="000000"/>
                </a:solidFill>
              </a:rPr>
              <a:t>SuspendExcParts</a:t>
            </a:r>
            <a:r>
              <a:rPr lang="en-US">
                <a:solidFill>
                  <a:srgbClr val="000000"/>
                </a:solidFill>
              </a:rPr>
              <a:t> list in </a:t>
            </a:r>
            <a:r>
              <a:rPr lang="en-US" err="1">
                <a:solidFill>
                  <a:srgbClr val="000000"/>
                </a:solidFill>
              </a:rPr>
              <a:t>slurm.conf</a:t>
            </a:r>
            <a:endParaRPr lang="en-US">
              <a:solidFill>
                <a:srgbClr val="000000"/>
              </a:solidFill>
            </a:endParaRPr>
          </a:p>
        </p:txBody>
      </p:sp>
      <p:pic>
        <p:nvPicPr>
          <p:cNvPr id="7" name="Picture 6">
            <a:extLst>
              <a:ext uri="{FF2B5EF4-FFF2-40B4-BE49-F238E27FC236}">
                <a16:creationId xmlns:a16="http://schemas.microsoft.com/office/drawing/2014/main" id="{2495ADBC-710A-4605-8083-54E521849B47}"/>
              </a:ext>
            </a:extLst>
          </p:cNvPr>
          <p:cNvPicPr>
            <a:picLocks noChangeAspect="1"/>
          </p:cNvPicPr>
          <p:nvPr/>
        </p:nvPicPr>
        <p:blipFill>
          <a:blip r:embed="rId2"/>
          <a:stretch>
            <a:fillRect/>
          </a:stretch>
        </p:blipFill>
        <p:spPr>
          <a:xfrm>
            <a:off x="6887786" y="3320699"/>
            <a:ext cx="4115374" cy="1238423"/>
          </a:xfrm>
          <a:prstGeom prst="rect">
            <a:avLst/>
          </a:prstGeom>
        </p:spPr>
      </p:pic>
    </p:spTree>
    <p:extLst>
      <p:ext uri="{BB962C8B-B14F-4D97-AF65-F5344CB8AC3E}">
        <p14:creationId xmlns:p14="http://schemas.microsoft.com/office/powerpoint/2010/main" val="261546161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B257-0C19-45F6-BFBB-64C6AC5D7B6A}"/>
              </a:ext>
            </a:extLst>
          </p:cNvPr>
          <p:cNvSpPr>
            <a:spLocks noGrp="1"/>
          </p:cNvSpPr>
          <p:nvPr>
            <p:ph type="title"/>
          </p:nvPr>
        </p:nvSpPr>
        <p:spPr>
          <a:xfrm>
            <a:off x="588263" y="457200"/>
            <a:ext cx="11018520" cy="553998"/>
          </a:xfrm>
        </p:spPr>
        <p:txBody>
          <a:bodyPr/>
          <a:lstStyle/>
          <a:p>
            <a:r>
              <a:rPr lang="en-US"/>
              <a:t>Autoscale integration</a:t>
            </a:r>
          </a:p>
        </p:txBody>
      </p:sp>
      <p:sp>
        <p:nvSpPr>
          <p:cNvPr id="3" name="Content Placeholder 2">
            <a:extLst>
              <a:ext uri="{FF2B5EF4-FFF2-40B4-BE49-F238E27FC236}">
                <a16:creationId xmlns:a16="http://schemas.microsoft.com/office/drawing/2014/main" id="{F7873AF8-CF78-4B27-B8D6-C940E496C85F}"/>
              </a:ext>
            </a:extLst>
          </p:cNvPr>
          <p:cNvSpPr>
            <a:spLocks noGrp="1"/>
          </p:cNvSpPr>
          <p:nvPr>
            <p:ph sz="quarter" idx="10"/>
          </p:nvPr>
        </p:nvSpPr>
        <p:spPr>
          <a:xfrm>
            <a:off x="588263" y="1435100"/>
            <a:ext cx="11018838" cy="4074962"/>
          </a:xfrm>
        </p:spPr>
        <p:txBody>
          <a:bodyPr/>
          <a:lstStyle/>
          <a:p>
            <a:r>
              <a:rPr lang="en-US"/>
              <a:t>Uses </a:t>
            </a:r>
            <a:r>
              <a:rPr lang="en-US" err="1"/>
              <a:t>Slurm’s</a:t>
            </a:r>
            <a:r>
              <a:rPr lang="en-US"/>
              <a:t> “power save” </a:t>
            </a:r>
            <a:r>
              <a:rPr lang="en-US">
                <a:hlinkClick r:id="rId2"/>
              </a:rPr>
              <a:t>mechanism</a:t>
            </a:r>
            <a:endParaRPr lang="en-US"/>
          </a:p>
          <a:p>
            <a:r>
              <a:rPr lang="en-US"/>
              <a:t>Slurm is responsible for deciding which nodes to start and stop and requests them by name from CycleCloud</a:t>
            </a:r>
          </a:p>
          <a:p>
            <a:r>
              <a:rPr lang="en-US"/>
              <a:t>Calls scripts in /opt/cycle/jetpack/system/bootstrap/slurm to resume and suspend nodes</a:t>
            </a:r>
          </a:p>
          <a:p>
            <a:r>
              <a:rPr lang="en-US"/>
              <a:t>Nodes manually stopped either via CycleCloud or via `shutdown` command will end up in the DOWN state and need to be manually set back to IDLE</a:t>
            </a:r>
          </a:p>
          <a:p>
            <a:pPr lvl="1"/>
            <a:r>
              <a:rPr lang="en-US"/>
              <a:t>Nodes in the DOWN state will not be considered by Slurm to be resumed</a:t>
            </a:r>
          </a:p>
        </p:txBody>
      </p:sp>
    </p:spTree>
    <p:extLst>
      <p:ext uri="{BB962C8B-B14F-4D97-AF65-F5344CB8AC3E}">
        <p14:creationId xmlns:p14="http://schemas.microsoft.com/office/powerpoint/2010/main" val="85920108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2702-3618-4E77-BF03-F55368A49DFC}"/>
              </a:ext>
            </a:extLst>
          </p:cNvPr>
          <p:cNvSpPr>
            <a:spLocks noGrp="1"/>
          </p:cNvSpPr>
          <p:nvPr>
            <p:ph type="title"/>
          </p:nvPr>
        </p:nvSpPr>
        <p:spPr/>
        <p:txBody>
          <a:bodyPr/>
          <a:lstStyle/>
          <a:p>
            <a:r>
              <a:rPr lang="en-US"/>
              <a:t>Upcoming features to Slurm in CycleCloud 8.1</a:t>
            </a:r>
          </a:p>
        </p:txBody>
      </p:sp>
      <p:sp>
        <p:nvSpPr>
          <p:cNvPr id="3" name="Content Placeholder 2">
            <a:extLst>
              <a:ext uri="{FF2B5EF4-FFF2-40B4-BE49-F238E27FC236}">
                <a16:creationId xmlns:a16="http://schemas.microsoft.com/office/drawing/2014/main" id="{60DE3198-D139-4878-97C0-AE4D27575F94}"/>
              </a:ext>
            </a:extLst>
          </p:cNvPr>
          <p:cNvSpPr>
            <a:spLocks noGrp="1"/>
          </p:cNvSpPr>
          <p:nvPr>
            <p:ph sz="quarter" idx="10"/>
          </p:nvPr>
        </p:nvSpPr>
        <p:spPr>
          <a:xfrm>
            <a:off x="584200" y="1435100"/>
            <a:ext cx="11018838" cy="3397853"/>
          </a:xfrm>
        </p:spPr>
        <p:txBody>
          <a:bodyPr/>
          <a:lstStyle/>
          <a:p>
            <a:r>
              <a:rPr lang="en-US" dirty="0"/>
              <a:t>Support for Slurm job accounting</a:t>
            </a:r>
          </a:p>
          <a:p>
            <a:pPr lvl="1"/>
            <a:r>
              <a:rPr lang="en-US" dirty="0"/>
              <a:t>Customers can opt-in to having CycleCloud set up job accounting to point to either a file on the Scheduler node or a MariaDB/MySQL database</a:t>
            </a:r>
          </a:p>
          <a:p>
            <a:r>
              <a:rPr lang="en-US" dirty="0"/>
              <a:t>Automatic detection and configuration of GPU resources </a:t>
            </a:r>
          </a:p>
          <a:p>
            <a:pPr lvl="1"/>
            <a:r>
              <a:rPr lang="en-US" dirty="0"/>
              <a:t>Will enable users to submit jobs requesting N number of GPUs</a:t>
            </a:r>
          </a:p>
          <a:p>
            <a:r>
              <a:rPr lang="en-US" dirty="0"/>
              <a:t>Multiple filer options for the shared filesystems on the cluster</a:t>
            </a:r>
          </a:p>
          <a:p>
            <a:pPr lvl="1"/>
            <a:r>
              <a:rPr lang="en-US" dirty="0"/>
              <a:t>Not unique to Slurm, but an often requested feature</a:t>
            </a:r>
          </a:p>
          <a:p>
            <a:r>
              <a:rPr lang="en-US" dirty="0"/>
              <a:t>Slurm 20 and CentOS 8 support</a:t>
            </a:r>
          </a:p>
        </p:txBody>
      </p:sp>
    </p:spTree>
    <p:extLst>
      <p:ext uri="{BB962C8B-B14F-4D97-AF65-F5344CB8AC3E}">
        <p14:creationId xmlns:p14="http://schemas.microsoft.com/office/powerpoint/2010/main" val="63876785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3035808"/>
            <a:ext cx="9144000" cy="498598"/>
          </a:xfrm>
        </p:spPr>
        <p:txBody>
          <a:bodyPr/>
          <a:lstStyle/>
          <a:p>
            <a:r>
              <a:rPr lang="en-US"/>
              <a:t>Troubleshooting</a:t>
            </a:r>
          </a:p>
        </p:txBody>
      </p:sp>
    </p:spTree>
    <p:extLst>
      <p:ext uri="{BB962C8B-B14F-4D97-AF65-F5344CB8AC3E}">
        <p14:creationId xmlns:p14="http://schemas.microsoft.com/office/powerpoint/2010/main" val="376589002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B9EBD-C770-49AA-BF6C-AD122BE6FD31}"/>
              </a:ext>
            </a:extLst>
          </p:cNvPr>
          <p:cNvSpPr>
            <a:spLocks noGrp="1"/>
          </p:cNvSpPr>
          <p:nvPr>
            <p:ph type="title"/>
          </p:nvPr>
        </p:nvSpPr>
        <p:spPr/>
        <p:txBody>
          <a:bodyPr/>
          <a:lstStyle/>
          <a:p>
            <a:r>
              <a:rPr lang="en-US"/>
              <a:t>Debug log locations</a:t>
            </a:r>
          </a:p>
        </p:txBody>
      </p:sp>
      <p:sp>
        <p:nvSpPr>
          <p:cNvPr id="3" name="Content Placeholder 2">
            <a:extLst>
              <a:ext uri="{FF2B5EF4-FFF2-40B4-BE49-F238E27FC236}">
                <a16:creationId xmlns:a16="http://schemas.microsoft.com/office/drawing/2014/main" id="{B4903761-782E-4FE2-8CED-609D85B1AA82}"/>
              </a:ext>
            </a:extLst>
          </p:cNvPr>
          <p:cNvSpPr>
            <a:spLocks noGrp="1"/>
          </p:cNvSpPr>
          <p:nvPr>
            <p:ph sz="quarter" idx="10"/>
          </p:nvPr>
        </p:nvSpPr>
        <p:spPr>
          <a:xfrm>
            <a:off x="584200" y="1435100"/>
            <a:ext cx="11018838" cy="3533275"/>
          </a:xfrm>
        </p:spPr>
        <p:txBody>
          <a:bodyPr/>
          <a:lstStyle/>
          <a:p>
            <a:r>
              <a:rPr lang="en-US"/>
              <a:t>Scheduler</a:t>
            </a:r>
          </a:p>
          <a:p>
            <a:pPr lvl="1"/>
            <a:r>
              <a:rPr lang="en-US"/>
              <a:t>/var/log/</a:t>
            </a:r>
            <a:r>
              <a:rPr lang="en-US" err="1"/>
              <a:t>slurmctld</a:t>
            </a:r>
            <a:r>
              <a:rPr lang="en-US"/>
              <a:t>/slurmctld.log</a:t>
            </a:r>
          </a:p>
          <a:p>
            <a:pPr lvl="1"/>
            <a:r>
              <a:rPr lang="en-US"/>
              <a:t>/var/log/</a:t>
            </a:r>
            <a:r>
              <a:rPr lang="en-US" err="1"/>
              <a:t>slurmctld</a:t>
            </a:r>
            <a:r>
              <a:rPr lang="en-US"/>
              <a:t>/resume.log</a:t>
            </a:r>
          </a:p>
          <a:p>
            <a:pPr lvl="1"/>
            <a:r>
              <a:rPr lang="en-US"/>
              <a:t>/var/log/</a:t>
            </a:r>
            <a:r>
              <a:rPr lang="en-US" err="1"/>
              <a:t>slurmctld</a:t>
            </a:r>
            <a:r>
              <a:rPr lang="en-US"/>
              <a:t>/suspend.log</a:t>
            </a:r>
          </a:p>
          <a:p>
            <a:pPr lvl="1"/>
            <a:r>
              <a:rPr lang="en-US"/>
              <a:t>/var/log/</a:t>
            </a:r>
            <a:r>
              <a:rPr lang="en-US" err="1"/>
              <a:t>slurmctld</a:t>
            </a:r>
            <a:r>
              <a:rPr lang="en-US"/>
              <a:t>/slurmdbd.log (only if customer has enabled </a:t>
            </a:r>
            <a:r>
              <a:rPr lang="en-US" err="1"/>
              <a:t>SlurmDBD</a:t>
            </a:r>
            <a:r>
              <a:rPr lang="en-US"/>
              <a:t>)</a:t>
            </a:r>
          </a:p>
          <a:p>
            <a:pPr lvl="1"/>
            <a:endParaRPr lang="en-US"/>
          </a:p>
          <a:p>
            <a:r>
              <a:rPr lang="en-US"/>
              <a:t>Nodes</a:t>
            </a:r>
          </a:p>
          <a:p>
            <a:pPr lvl="1"/>
            <a:r>
              <a:rPr lang="en-US"/>
              <a:t>/var/log/</a:t>
            </a:r>
            <a:r>
              <a:rPr lang="en-US" err="1"/>
              <a:t>slurmd</a:t>
            </a:r>
            <a:r>
              <a:rPr lang="en-US"/>
              <a:t>/slurmd.log</a:t>
            </a:r>
          </a:p>
          <a:p>
            <a:pPr lvl="1"/>
            <a:endParaRPr lang="en-US"/>
          </a:p>
        </p:txBody>
      </p:sp>
    </p:spTree>
    <p:extLst>
      <p:ext uri="{BB962C8B-B14F-4D97-AF65-F5344CB8AC3E}">
        <p14:creationId xmlns:p14="http://schemas.microsoft.com/office/powerpoint/2010/main" val="65171574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4E69-6D8B-4850-90B0-77697CCDBCD0}"/>
              </a:ext>
            </a:extLst>
          </p:cNvPr>
          <p:cNvSpPr>
            <a:spLocks noGrp="1"/>
          </p:cNvSpPr>
          <p:nvPr>
            <p:ph type="title"/>
          </p:nvPr>
        </p:nvSpPr>
        <p:spPr/>
        <p:txBody>
          <a:bodyPr/>
          <a:lstStyle/>
          <a:p>
            <a:r>
              <a:rPr lang="en-US"/>
              <a:t>Config Files</a:t>
            </a:r>
          </a:p>
        </p:txBody>
      </p:sp>
      <p:sp>
        <p:nvSpPr>
          <p:cNvPr id="3" name="Content Placeholder 2">
            <a:extLst>
              <a:ext uri="{FF2B5EF4-FFF2-40B4-BE49-F238E27FC236}">
                <a16:creationId xmlns:a16="http://schemas.microsoft.com/office/drawing/2014/main" id="{7291CBE1-23F0-40D3-9C3D-60031327E5EB}"/>
              </a:ext>
            </a:extLst>
          </p:cNvPr>
          <p:cNvSpPr>
            <a:spLocks noGrp="1"/>
          </p:cNvSpPr>
          <p:nvPr>
            <p:ph sz="quarter" idx="10"/>
          </p:nvPr>
        </p:nvSpPr>
        <p:spPr>
          <a:xfrm>
            <a:off x="584200" y="1435100"/>
            <a:ext cx="11018838" cy="3976473"/>
          </a:xfrm>
        </p:spPr>
        <p:txBody>
          <a:bodyPr/>
          <a:lstStyle/>
          <a:p>
            <a:r>
              <a:rPr lang="en-US"/>
              <a:t>Config files need to match on Scheduler and Execute nodes</a:t>
            </a:r>
          </a:p>
          <a:p>
            <a:pPr lvl="1"/>
            <a:r>
              <a:rPr lang="en-US"/>
              <a:t>Relevant config files actually live in /sched/ and are </a:t>
            </a:r>
            <a:r>
              <a:rPr lang="en-US" err="1"/>
              <a:t>symlinked</a:t>
            </a:r>
            <a:r>
              <a:rPr lang="en-US"/>
              <a:t> to /</a:t>
            </a:r>
            <a:r>
              <a:rPr lang="en-US" err="1"/>
              <a:t>etc</a:t>
            </a:r>
            <a:r>
              <a:rPr lang="en-US"/>
              <a:t>/slurm</a:t>
            </a:r>
          </a:p>
          <a:p>
            <a:r>
              <a:rPr lang="en-US"/>
              <a:t>/</a:t>
            </a:r>
            <a:r>
              <a:rPr lang="en-US" err="1"/>
              <a:t>etc</a:t>
            </a:r>
            <a:r>
              <a:rPr lang="en-US"/>
              <a:t>/slurm/</a:t>
            </a:r>
            <a:r>
              <a:rPr lang="en-US" err="1"/>
              <a:t>slurm.conf</a:t>
            </a:r>
            <a:endParaRPr lang="en-US"/>
          </a:p>
          <a:p>
            <a:pPr lvl="1"/>
            <a:r>
              <a:rPr lang="en-US"/>
              <a:t>Created when CycleCloud first starts the Scheduler and then isn’t updated by Chef again</a:t>
            </a:r>
          </a:p>
          <a:p>
            <a:r>
              <a:rPr lang="en-US"/>
              <a:t>/</a:t>
            </a:r>
            <a:r>
              <a:rPr lang="en-US" err="1"/>
              <a:t>etc</a:t>
            </a:r>
            <a:r>
              <a:rPr lang="en-US"/>
              <a:t>/slurm/</a:t>
            </a:r>
            <a:r>
              <a:rPr lang="en-US" err="1"/>
              <a:t>cyclecloud.conf</a:t>
            </a:r>
            <a:endParaRPr lang="en-US"/>
          </a:p>
          <a:p>
            <a:pPr lvl="1"/>
            <a:r>
              <a:rPr lang="en-US"/>
              <a:t>Created and managed by the cyclecloud_slurm.sh command</a:t>
            </a:r>
          </a:p>
          <a:p>
            <a:pPr lvl="1"/>
            <a:r>
              <a:rPr lang="en-US"/>
              <a:t>Any manual changes to this file could be reverted with future invocations of that command</a:t>
            </a:r>
          </a:p>
          <a:p>
            <a:r>
              <a:rPr lang="en-US"/>
              <a:t>/</a:t>
            </a:r>
            <a:r>
              <a:rPr lang="en-US" err="1"/>
              <a:t>etc</a:t>
            </a:r>
            <a:r>
              <a:rPr lang="en-US"/>
              <a:t>/slurm/</a:t>
            </a:r>
            <a:r>
              <a:rPr lang="en-US" err="1"/>
              <a:t>topology.conf</a:t>
            </a:r>
            <a:endParaRPr lang="en-US"/>
          </a:p>
          <a:p>
            <a:pPr lvl="1"/>
            <a:r>
              <a:rPr lang="en-US"/>
              <a:t>Created and managed by the cyclecloud_slurm.sh command</a:t>
            </a:r>
          </a:p>
        </p:txBody>
      </p:sp>
    </p:spTree>
    <p:extLst>
      <p:ext uri="{BB962C8B-B14F-4D97-AF65-F5344CB8AC3E}">
        <p14:creationId xmlns:p14="http://schemas.microsoft.com/office/powerpoint/2010/main" val="168792794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EEE83-26CF-4505-8E9F-2F8931314FBA}"/>
              </a:ext>
            </a:extLst>
          </p:cNvPr>
          <p:cNvSpPr>
            <a:spLocks noGrp="1"/>
          </p:cNvSpPr>
          <p:nvPr>
            <p:ph type="title"/>
          </p:nvPr>
        </p:nvSpPr>
        <p:spPr>
          <a:xfrm>
            <a:off x="588263" y="457200"/>
            <a:ext cx="11018520" cy="553998"/>
          </a:xfrm>
        </p:spPr>
        <p:txBody>
          <a:bodyPr/>
          <a:lstStyle/>
          <a:p>
            <a:r>
              <a:rPr lang="en-US" err="1"/>
              <a:t>scontrol</a:t>
            </a:r>
            <a:r>
              <a:rPr lang="en-US"/>
              <a:t> (running node)</a:t>
            </a:r>
          </a:p>
        </p:txBody>
      </p:sp>
      <p:sp>
        <p:nvSpPr>
          <p:cNvPr id="3" name="Content Placeholder 2">
            <a:extLst>
              <a:ext uri="{FF2B5EF4-FFF2-40B4-BE49-F238E27FC236}">
                <a16:creationId xmlns:a16="http://schemas.microsoft.com/office/drawing/2014/main" id="{FF6DFF22-7BD3-4C84-8089-FADE9C06E9F1}"/>
              </a:ext>
            </a:extLst>
          </p:cNvPr>
          <p:cNvSpPr>
            <a:spLocks noGrp="1"/>
          </p:cNvSpPr>
          <p:nvPr>
            <p:ph sz="quarter" idx="10"/>
          </p:nvPr>
        </p:nvSpPr>
        <p:spPr>
          <a:xfrm>
            <a:off x="584200" y="1435100"/>
            <a:ext cx="11018838" cy="1465016"/>
          </a:xfrm>
        </p:spPr>
        <p:txBody>
          <a:bodyPr/>
          <a:lstStyle/>
          <a:p>
            <a:r>
              <a:rPr lang="en-US"/>
              <a:t>Used to view and modify scheduler and node details</a:t>
            </a:r>
          </a:p>
          <a:p>
            <a:r>
              <a:rPr lang="en-US"/>
              <a:t>Primary tool for troubleshooting</a:t>
            </a:r>
          </a:p>
          <a:p>
            <a:endParaRPr lang="en-US"/>
          </a:p>
        </p:txBody>
      </p:sp>
      <p:pic>
        <p:nvPicPr>
          <p:cNvPr id="7" name="Picture 6">
            <a:extLst>
              <a:ext uri="{FF2B5EF4-FFF2-40B4-BE49-F238E27FC236}">
                <a16:creationId xmlns:a16="http://schemas.microsoft.com/office/drawing/2014/main" id="{39496EA6-9644-484A-B24A-569C059102D6}"/>
              </a:ext>
            </a:extLst>
          </p:cNvPr>
          <p:cNvPicPr>
            <a:picLocks noChangeAspect="1"/>
          </p:cNvPicPr>
          <p:nvPr/>
        </p:nvPicPr>
        <p:blipFill>
          <a:blip r:embed="rId2"/>
          <a:stretch>
            <a:fillRect/>
          </a:stretch>
        </p:blipFill>
        <p:spPr>
          <a:xfrm>
            <a:off x="1557089" y="2641600"/>
            <a:ext cx="9077821" cy="3957190"/>
          </a:xfrm>
          <a:prstGeom prst="rect">
            <a:avLst/>
          </a:prstGeom>
        </p:spPr>
      </p:pic>
    </p:spTree>
    <p:extLst>
      <p:ext uri="{BB962C8B-B14F-4D97-AF65-F5344CB8AC3E}">
        <p14:creationId xmlns:p14="http://schemas.microsoft.com/office/powerpoint/2010/main" val="331029345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5DF0-ABF8-4DFF-8628-778B442D9587}"/>
              </a:ext>
            </a:extLst>
          </p:cNvPr>
          <p:cNvSpPr>
            <a:spLocks noGrp="1"/>
          </p:cNvSpPr>
          <p:nvPr>
            <p:ph type="title"/>
          </p:nvPr>
        </p:nvSpPr>
        <p:spPr/>
        <p:txBody>
          <a:bodyPr/>
          <a:lstStyle/>
          <a:p>
            <a:r>
              <a:rPr lang="en-US" err="1"/>
              <a:t>scontrol</a:t>
            </a:r>
            <a:r>
              <a:rPr lang="en-US"/>
              <a:t> (power save)</a:t>
            </a:r>
          </a:p>
        </p:txBody>
      </p:sp>
      <p:pic>
        <p:nvPicPr>
          <p:cNvPr id="5" name="Content Placeholder 4">
            <a:extLst>
              <a:ext uri="{FF2B5EF4-FFF2-40B4-BE49-F238E27FC236}">
                <a16:creationId xmlns:a16="http://schemas.microsoft.com/office/drawing/2014/main" id="{8EDD81DF-9143-4EC1-A854-FB5CEAF90F6C}"/>
              </a:ext>
            </a:extLst>
          </p:cNvPr>
          <p:cNvPicPr>
            <a:picLocks noGrp="1" noChangeAspect="1"/>
          </p:cNvPicPr>
          <p:nvPr>
            <p:ph sz="quarter" idx="10"/>
          </p:nvPr>
        </p:nvPicPr>
        <p:blipFill>
          <a:blip r:embed="rId2"/>
          <a:stretch>
            <a:fillRect/>
          </a:stretch>
        </p:blipFill>
        <p:spPr>
          <a:xfrm>
            <a:off x="1075779" y="1462380"/>
            <a:ext cx="10040441" cy="3933239"/>
          </a:xfrm>
        </p:spPr>
      </p:pic>
    </p:spTree>
    <p:extLst>
      <p:ext uri="{BB962C8B-B14F-4D97-AF65-F5344CB8AC3E}">
        <p14:creationId xmlns:p14="http://schemas.microsoft.com/office/powerpoint/2010/main" val="363615907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D35AA-05BD-48BB-B5A7-1D59F1DCC46A}"/>
              </a:ext>
            </a:extLst>
          </p:cNvPr>
          <p:cNvSpPr>
            <a:spLocks noGrp="1"/>
          </p:cNvSpPr>
          <p:nvPr>
            <p:ph type="title"/>
          </p:nvPr>
        </p:nvSpPr>
        <p:spPr/>
        <p:txBody>
          <a:bodyPr/>
          <a:lstStyle/>
          <a:p>
            <a:r>
              <a:rPr lang="en-US" err="1"/>
              <a:t>Scontrol</a:t>
            </a:r>
            <a:r>
              <a:rPr lang="en-US"/>
              <a:t> (job)</a:t>
            </a:r>
          </a:p>
        </p:txBody>
      </p:sp>
      <p:pic>
        <p:nvPicPr>
          <p:cNvPr id="5" name="Content Placeholder 4">
            <a:extLst>
              <a:ext uri="{FF2B5EF4-FFF2-40B4-BE49-F238E27FC236}">
                <a16:creationId xmlns:a16="http://schemas.microsoft.com/office/drawing/2014/main" id="{BD69EC1F-CD70-4A67-A44F-ACF95A4BD7B1}"/>
              </a:ext>
            </a:extLst>
          </p:cNvPr>
          <p:cNvPicPr>
            <a:picLocks noGrp="1" noChangeAspect="1"/>
          </p:cNvPicPr>
          <p:nvPr>
            <p:ph sz="quarter" idx="10"/>
          </p:nvPr>
        </p:nvPicPr>
        <p:blipFill>
          <a:blip r:embed="rId2"/>
          <a:stretch>
            <a:fillRect/>
          </a:stretch>
        </p:blipFill>
        <p:spPr>
          <a:xfrm>
            <a:off x="2501154" y="1317812"/>
            <a:ext cx="6676770" cy="5367021"/>
          </a:xfrm>
        </p:spPr>
      </p:pic>
    </p:spTree>
    <p:extLst>
      <p:ext uri="{BB962C8B-B14F-4D97-AF65-F5344CB8AC3E}">
        <p14:creationId xmlns:p14="http://schemas.microsoft.com/office/powerpoint/2010/main" val="1078268620"/>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179B-6972-412C-B464-3DE71198DE3C}"/>
              </a:ext>
            </a:extLst>
          </p:cNvPr>
          <p:cNvSpPr>
            <a:spLocks noGrp="1"/>
          </p:cNvSpPr>
          <p:nvPr>
            <p:ph type="title"/>
          </p:nvPr>
        </p:nvSpPr>
        <p:spPr/>
        <p:txBody>
          <a:bodyPr/>
          <a:lstStyle/>
          <a:p>
            <a:r>
              <a:rPr lang="en-US" err="1"/>
              <a:t>scontrol</a:t>
            </a:r>
            <a:r>
              <a:rPr lang="en-US"/>
              <a:t> (common commands)</a:t>
            </a:r>
          </a:p>
        </p:txBody>
      </p:sp>
      <p:sp>
        <p:nvSpPr>
          <p:cNvPr id="3" name="Content Placeholder 2">
            <a:extLst>
              <a:ext uri="{FF2B5EF4-FFF2-40B4-BE49-F238E27FC236}">
                <a16:creationId xmlns:a16="http://schemas.microsoft.com/office/drawing/2014/main" id="{7B2A58ED-17A9-4FBD-BF72-652DAFC4ADA7}"/>
              </a:ext>
            </a:extLst>
          </p:cNvPr>
          <p:cNvSpPr>
            <a:spLocks noGrp="1"/>
          </p:cNvSpPr>
          <p:nvPr>
            <p:ph sz="quarter" idx="10"/>
          </p:nvPr>
        </p:nvSpPr>
        <p:spPr>
          <a:xfrm>
            <a:off x="584200" y="1435100"/>
            <a:ext cx="11018838" cy="3976473"/>
          </a:xfrm>
        </p:spPr>
        <p:txBody>
          <a:bodyPr/>
          <a:lstStyle/>
          <a:p>
            <a:r>
              <a:rPr lang="en-US"/>
              <a:t>Re-read configuration files</a:t>
            </a:r>
          </a:p>
          <a:p>
            <a:pPr lvl="1"/>
            <a:r>
              <a:rPr lang="en-US" err="1"/>
              <a:t>scontrol</a:t>
            </a:r>
            <a:r>
              <a:rPr lang="en-US"/>
              <a:t> </a:t>
            </a:r>
            <a:r>
              <a:rPr lang="en-US" err="1"/>
              <a:t>reconfig</a:t>
            </a:r>
            <a:endParaRPr lang="en-US"/>
          </a:p>
          <a:p>
            <a:r>
              <a:rPr lang="en-US"/>
              <a:t>View node information</a:t>
            </a:r>
          </a:p>
          <a:p>
            <a:pPr lvl="1"/>
            <a:r>
              <a:rPr lang="en-US" err="1"/>
              <a:t>scontrol</a:t>
            </a:r>
            <a:r>
              <a:rPr lang="en-US"/>
              <a:t> show node &lt;</a:t>
            </a:r>
            <a:r>
              <a:rPr lang="en-US" err="1"/>
              <a:t>nodename</a:t>
            </a:r>
            <a:r>
              <a:rPr lang="en-US"/>
              <a:t>&gt;</a:t>
            </a:r>
          </a:p>
          <a:p>
            <a:r>
              <a:rPr lang="en-US"/>
              <a:t>View job information</a:t>
            </a:r>
          </a:p>
          <a:p>
            <a:pPr lvl="1"/>
            <a:r>
              <a:rPr lang="en-US" err="1"/>
              <a:t>scontrol</a:t>
            </a:r>
            <a:r>
              <a:rPr lang="en-US"/>
              <a:t> show job &lt;</a:t>
            </a:r>
            <a:r>
              <a:rPr lang="en-US" err="1"/>
              <a:t>jobid</a:t>
            </a:r>
            <a:r>
              <a:rPr lang="en-US"/>
              <a:t>&gt;</a:t>
            </a:r>
          </a:p>
          <a:p>
            <a:r>
              <a:rPr lang="en-US"/>
              <a:t>Update node state (especially useful if nodes are marked DOWN)</a:t>
            </a:r>
          </a:p>
          <a:p>
            <a:pPr lvl="1"/>
            <a:r>
              <a:rPr lang="en-US" err="1"/>
              <a:t>scontrol</a:t>
            </a:r>
            <a:r>
              <a:rPr lang="en-US"/>
              <a:t> update </a:t>
            </a:r>
            <a:r>
              <a:rPr lang="en-US" err="1"/>
              <a:t>nodename</a:t>
            </a:r>
            <a:r>
              <a:rPr lang="en-US"/>
              <a:t>=&lt;</a:t>
            </a:r>
            <a:r>
              <a:rPr lang="en-US" err="1"/>
              <a:t>nodename</a:t>
            </a:r>
            <a:r>
              <a:rPr lang="en-US"/>
              <a:t>&gt; state=idle</a:t>
            </a:r>
          </a:p>
          <a:p>
            <a:pPr lvl="1"/>
            <a:endParaRPr lang="en-US"/>
          </a:p>
        </p:txBody>
      </p:sp>
    </p:spTree>
    <p:extLst>
      <p:ext uri="{BB962C8B-B14F-4D97-AF65-F5344CB8AC3E}">
        <p14:creationId xmlns:p14="http://schemas.microsoft.com/office/powerpoint/2010/main" val="281830923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048CD-D995-44F1-B462-B8AF9B43CDA6}"/>
              </a:ext>
            </a:extLst>
          </p:cNvPr>
          <p:cNvSpPr>
            <a:spLocks noGrp="1"/>
          </p:cNvSpPr>
          <p:nvPr>
            <p:ph type="title"/>
          </p:nvPr>
        </p:nvSpPr>
        <p:spPr/>
        <p:txBody>
          <a:bodyPr/>
          <a:lstStyle/>
          <a:p>
            <a:r>
              <a:rPr lang="en-US"/>
              <a:t>Common problems</a:t>
            </a:r>
          </a:p>
        </p:txBody>
      </p:sp>
      <p:sp>
        <p:nvSpPr>
          <p:cNvPr id="3" name="Content Placeholder 2">
            <a:extLst>
              <a:ext uri="{FF2B5EF4-FFF2-40B4-BE49-F238E27FC236}">
                <a16:creationId xmlns:a16="http://schemas.microsoft.com/office/drawing/2014/main" id="{15151F6D-CC92-4C65-A577-D443AC5FA7E5}"/>
              </a:ext>
            </a:extLst>
          </p:cNvPr>
          <p:cNvSpPr>
            <a:spLocks noGrp="1"/>
          </p:cNvSpPr>
          <p:nvPr>
            <p:ph sz="quarter" idx="10"/>
          </p:nvPr>
        </p:nvSpPr>
        <p:spPr>
          <a:xfrm>
            <a:off x="584200" y="1435100"/>
            <a:ext cx="11018838" cy="5059847"/>
          </a:xfrm>
        </p:spPr>
        <p:txBody>
          <a:bodyPr/>
          <a:lstStyle/>
          <a:p>
            <a:r>
              <a:rPr lang="en-US" sz="2400"/>
              <a:t>“Autoscale used to work fine, but now Slurm won’t start nodes”</a:t>
            </a:r>
          </a:p>
          <a:p>
            <a:pPr lvl="1"/>
            <a:r>
              <a:rPr lang="en-US" sz="1800"/>
              <a:t>Check to make sure nodes are in the IDLE state and not DOWN</a:t>
            </a:r>
          </a:p>
          <a:p>
            <a:r>
              <a:rPr lang="en-US" sz="2400"/>
              <a:t>“My jobs ran fine on this cluster the past few days, but today the jobs keep dying”</a:t>
            </a:r>
          </a:p>
          <a:p>
            <a:pPr lvl="1"/>
            <a:r>
              <a:rPr lang="en-US" sz="1800"/>
              <a:t>Prior to CycleCloud 7.9.3 there was a bug related to IP reuse and some other Slurm settings. Make sure the customer has updated their Slurm cluster type to version 2.1.0 or later.</a:t>
            </a:r>
          </a:p>
          <a:p>
            <a:r>
              <a:rPr lang="en-US" sz="2400"/>
              <a:t>“I’ve updated my cluster configuration but Slurm doesn’t show the new nodes/</a:t>
            </a:r>
            <a:r>
              <a:rPr lang="en-US" sz="2400" err="1"/>
              <a:t>nodetype</a:t>
            </a:r>
            <a:r>
              <a:rPr lang="en-US" sz="2400"/>
              <a:t>/config”</a:t>
            </a:r>
          </a:p>
          <a:p>
            <a:pPr lvl="1"/>
            <a:r>
              <a:rPr lang="en-US" sz="1800"/>
              <a:t>Cluster changes require running the “cyclecloud_slurm.sh scale” command on the Scheduler to take effect. </a:t>
            </a:r>
          </a:p>
          <a:p>
            <a:pPr lvl="1"/>
            <a:r>
              <a:rPr lang="en-US" sz="1800"/>
              <a:t>Any running nodes may need to be terminated to pick up configuration changes</a:t>
            </a:r>
          </a:p>
          <a:p>
            <a:r>
              <a:rPr lang="en-US" sz="2400"/>
              <a:t>“I’m trying to configure job preemption/other advanced Slurm scheduling features”</a:t>
            </a:r>
          </a:p>
          <a:p>
            <a:pPr lvl="1"/>
            <a:r>
              <a:rPr lang="en-US" sz="1800"/>
              <a:t>Customer needs to reach out to </a:t>
            </a:r>
            <a:r>
              <a:rPr lang="en-US" sz="1800" err="1"/>
              <a:t>SchedMD</a:t>
            </a:r>
            <a:r>
              <a:rPr lang="en-US" sz="1800"/>
              <a:t> for support</a:t>
            </a:r>
          </a:p>
        </p:txBody>
      </p:sp>
    </p:spTree>
    <p:extLst>
      <p:ext uri="{BB962C8B-B14F-4D97-AF65-F5344CB8AC3E}">
        <p14:creationId xmlns:p14="http://schemas.microsoft.com/office/powerpoint/2010/main" val="108699931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F769-A2C9-418B-BE42-D5F392747E8C}"/>
              </a:ext>
            </a:extLst>
          </p:cNvPr>
          <p:cNvSpPr>
            <a:spLocks noGrp="1"/>
          </p:cNvSpPr>
          <p:nvPr>
            <p:ph type="title"/>
          </p:nvPr>
        </p:nvSpPr>
        <p:spPr/>
        <p:txBody>
          <a:bodyPr/>
          <a:lstStyle/>
          <a:p>
            <a:r>
              <a:rPr lang="en-US"/>
              <a:t>Important </a:t>
            </a:r>
            <a:r>
              <a:rPr lang="en-US" err="1"/>
              <a:t>slurm.conf</a:t>
            </a:r>
            <a:r>
              <a:rPr lang="en-US"/>
              <a:t> settings (validate these are set)</a:t>
            </a:r>
          </a:p>
        </p:txBody>
      </p:sp>
      <p:sp>
        <p:nvSpPr>
          <p:cNvPr id="3" name="Content Placeholder 2">
            <a:extLst>
              <a:ext uri="{FF2B5EF4-FFF2-40B4-BE49-F238E27FC236}">
                <a16:creationId xmlns:a16="http://schemas.microsoft.com/office/drawing/2014/main" id="{706A8D32-7F9F-4443-AC54-EF20ECC2B6B8}"/>
              </a:ext>
            </a:extLst>
          </p:cNvPr>
          <p:cNvSpPr>
            <a:spLocks noGrp="1"/>
          </p:cNvSpPr>
          <p:nvPr>
            <p:ph sz="quarter" idx="10"/>
          </p:nvPr>
        </p:nvSpPr>
        <p:spPr>
          <a:xfrm>
            <a:off x="584200" y="1435100"/>
            <a:ext cx="11018838" cy="4050340"/>
          </a:xfrm>
        </p:spPr>
        <p:txBody>
          <a:bodyPr/>
          <a:lstStyle/>
          <a:p>
            <a:r>
              <a:rPr lang="en-US" err="1"/>
              <a:t>SchedulerType</a:t>
            </a:r>
            <a:r>
              <a:rPr lang="en-US"/>
              <a:t> = sched/backfill</a:t>
            </a:r>
          </a:p>
          <a:p>
            <a:r>
              <a:rPr lang="en-US" err="1"/>
              <a:t>SelectType</a:t>
            </a:r>
            <a:r>
              <a:rPr lang="en-US"/>
              <a:t>  = select/</a:t>
            </a:r>
            <a:r>
              <a:rPr lang="en-US" err="1"/>
              <a:t>cons_res</a:t>
            </a:r>
            <a:r>
              <a:rPr lang="en-US"/>
              <a:t> (or </a:t>
            </a:r>
            <a:r>
              <a:rPr lang="en-US" err="1"/>
              <a:t>cons_tres</a:t>
            </a:r>
            <a:r>
              <a:rPr lang="en-US"/>
              <a:t>)</a:t>
            </a:r>
          </a:p>
          <a:p>
            <a:r>
              <a:rPr lang="en-US" err="1"/>
              <a:t>SlurmctldParameters</a:t>
            </a:r>
            <a:r>
              <a:rPr lang="en-US"/>
              <a:t> = </a:t>
            </a:r>
            <a:r>
              <a:rPr lang="en-US" err="1"/>
              <a:t>idle_on_node_suspend</a:t>
            </a:r>
            <a:endParaRPr lang="en-US"/>
          </a:p>
          <a:p>
            <a:r>
              <a:rPr lang="en-US" err="1"/>
              <a:t>JobSubmitPlugins</a:t>
            </a:r>
            <a:r>
              <a:rPr lang="en-US"/>
              <a:t> = </a:t>
            </a:r>
            <a:r>
              <a:rPr lang="en-US" err="1"/>
              <a:t>job_submit</a:t>
            </a:r>
            <a:r>
              <a:rPr lang="en-US"/>
              <a:t>/cyclecloud</a:t>
            </a:r>
          </a:p>
          <a:p>
            <a:r>
              <a:rPr lang="en-US" err="1"/>
              <a:t>PrivateData</a:t>
            </a:r>
            <a:r>
              <a:rPr lang="en-US"/>
              <a:t> = cloud</a:t>
            </a:r>
          </a:p>
          <a:p>
            <a:r>
              <a:rPr lang="en-US" err="1"/>
              <a:t>TreeWidth</a:t>
            </a:r>
            <a:r>
              <a:rPr lang="en-US"/>
              <a:t> = 65533</a:t>
            </a:r>
          </a:p>
          <a:p>
            <a:r>
              <a:rPr lang="en-US"/>
              <a:t>Include </a:t>
            </a:r>
            <a:r>
              <a:rPr lang="en-US" err="1"/>
              <a:t>cyclecloud.conf</a:t>
            </a:r>
            <a:endParaRPr lang="en-US"/>
          </a:p>
          <a:p>
            <a:endParaRPr lang="en-US"/>
          </a:p>
        </p:txBody>
      </p:sp>
    </p:spTree>
    <p:extLst>
      <p:ext uri="{BB962C8B-B14F-4D97-AF65-F5344CB8AC3E}">
        <p14:creationId xmlns:p14="http://schemas.microsoft.com/office/powerpoint/2010/main" val="409078831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9810566"/>
      </p:ext>
    </p:extLst>
  </p:cSld>
  <p:clrMapOvr>
    <a:masterClrMapping/>
  </p:clrMapOvr>
  <p:transition>
    <p:fade/>
  </p:transition>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pc="http://schemas.microsoft.com/office/infopath/2007/PartnerControls" xmlns:xsi="http://www.w3.org/2001/XMLSchema-instance">
  <documentManagement>
    <_ip_UnifiedCompliancePolicyUIAction xmlns="http://schemas.microsoft.com/sharepoint/v3" xsi:nil="true"/>
    <_ip_UnifiedCompliancePolicyProperties xmlns="http://schemas.microsoft.com/sharepoint/v3" xsi:nil="true"/>
    <Sessiondate xmlns="1e8f339c-2825-49bc-a931-71fc02bd34e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886FEB5482F7440BF1E061DBDD92D16" ma:contentTypeVersion="15" ma:contentTypeDescription="Create a new document." ma:contentTypeScope="" ma:versionID="667d1f837f9f3ff027247f7174934fc7">
  <xsd:schema xmlns:xsd="http://www.w3.org/2001/XMLSchema" xmlns:xs="http://www.w3.org/2001/XMLSchema" xmlns:p="http://schemas.microsoft.com/office/2006/metadata/properties" xmlns:ns1="http://schemas.microsoft.com/sharepoint/v3" xmlns:ns2="1e8f339c-2825-49bc-a931-71fc02bd34e7" targetNamespace="http://schemas.microsoft.com/office/2006/metadata/properties" ma:root="true" ma:fieldsID="e6f5c29283b08cccd4bb322a12016ee2" ns1:_="" ns2:_="">
    <xsd:import namespace="http://schemas.microsoft.com/sharepoint/v3"/>
    <xsd:import namespace="1e8f339c-2825-49bc-a931-71fc02bd34e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1:_ip_UnifiedCompliancePolicyProperties" minOccurs="0"/>
                <xsd:element ref="ns1:_ip_UnifiedCompliancePolicyUIAction" minOccurs="0"/>
                <xsd:element ref="ns2:MediaServiceSearchProperties" minOccurs="0"/>
                <xsd:element ref="ns2:MediaServiceDocTags" minOccurs="0"/>
                <xsd:element ref="ns2:MediaServiceObjectDetectorVersions" minOccurs="0"/>
                <xsd:element ref="ns2:MediaServiceGenerationTime" minOccurs="0"/>
                <xsd:element ref="ns2:MediaServiceEventHashCode" minOccurs="0"/>
                <xsd:element ref="ns2:Sess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8f339c-2825-49bc-a931-71fc02bd34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ocTags" ma:index="17" nillable="true" ma:displayName="MediaServiceDocTags" ma:hidden="true" ma:internalName="MediaServiceDocTags" ma:readOnly="true">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Sessiondate" ma:index="21" nillable="true" ma:displayName="Session date" ma:format="DateOnly" ma:internalName="Sessiondat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90F116-B58F-4255-B05B-DA3808E0E5C6}">
  <ds:schemaRefs>
    <ds:schemaRef ds:uri="4724af67-6ca7-4004-8ba4-af13d9fc8dce"/>
    <ds:schemaRef ds:uri="http://schemas.microsoft.com/office/2006/metadata/properties"/>
    <ds:schemaRef ds:uri="http://schemas.microsoft.com/office/infopath/2007/PartnerControls"/>
    <ds:schemaRef ds:uri="http://schemas.microsoft.com/sharepoint/v3"/>
    <ds:schemaRef ds:uri="1e8f339c-2825-49bc-a931-71fc02bd34e7"/>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9BB576F8-AFDB-4565-9D25-614F3112EC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e8f339c-2825-49bc-a931-71fc02bd34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Blue and white brand template</Template>
  <TotalTime>1054</TotalTime>
  <Words>1618</Words>
  <Application>Microsoft Office PowerPoint</Application>
  <PresentationFormat>Widescreen</PresentationFormat>
  <Paragraphs>190</Paragraphs>
  <Slides>32</Slides>
  <Notes>7</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White Template</vt:lpstr>
      <vt:lpstr>Fun with Slurm and  Azure CycleCloud</vt:lpstr>
      <vt:lpstr>Agenda</vt:lpstr>
      <vt:lpstr>What is Slurm?</vt:lpstr>
      <vt:lpstr>What is Slurm</vt:lpstr>
      <vt:lpstr>Slurm Design Goals</vt:lpstr>
      <vt:lpstr>Slurm Terminology</vt:lpstr>
      <vt:lpstr>Node State Information (requestable resources)</vt:lpstr>
      <vt:lpstr>Job States</vt:lpstr>
      <vt:lpstr>Daemons</vt:lpstr>
      <vt:lpstr>Daemons</vt:lpstr>
      <vt:lpstr>Basic Slurm Commands</vt:lpstr>
      <vt:lpstr>Commands – General Info</vt:lpstr>
      <vt:lpstr>Common Slurm Commands</vt:lpstr>
      <vt:lpstr>Submitting a Job</vt:lpstr>
      <vt:lpstr>Example job script submission</vt:lpstr>
      <vt:lpstr>Example MPI job</vt:lpstr>
      <vt:lpstr>Monitoring/Checking nodes (sinfo)</vt:lpstr>
      <vt:lpstr>Node State Codes (From man page of sinfo)</vt:lpstr>
      <vt:lpstr>Slurm + CycleCloud</vt:lpstr>
      <vt:lpstr>Differences from other cluster types</vt:lpstr>
      <vt:lpstr>Autoscale integration</vt:lpstr>
      <vt:lpstr>Upcoming features to Slurm in CycleCloud 8.1</vt:lpstr>
      <vt:lpstr>Troubleshooting</vt:lpstr>
      <vt:lpstr>Debug log locations</vt:lpstr>
      <vt:lpstr>Config Files</vt:lpstr>
      <vt:lpstr>scontrol (running node)</vt:lpstr>
      <vt:lpstr>scontrol (power save)</vt:lpstr>
      <vt:lpstr>Scontrol (job)</vt:lpstr>
      <vt:lpstr>scontrol (common commands)</vt:lpstr>
      <vt:lpstr>Common problems</vt:lpstr>
      <vt:lpstr>Important slurm.conf settings (validate these are set)</vt:lpstr>
      <vt:lpstr>PowerPoint Presentation</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Slurm with Azure CycleCloud</dc:title>
  <dc:subject>&lt;Event name&gt;</dc:subject>
  <dc:creator>Andy Howard</dc:creator>
  <cp:lastModifiedBy>Andy Howard</cp:lastModifiedBy>
  <cp:revision>3</cp:revision>
  <dcterms:created xsi:type="dcterms:W3CDTF">2020-04-28T21:19:11Z</dcterms:created>
  <dcterms:modified xsi:type="dcterms:W3CDTF">2025-08-29T04:27:06Z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0x0101002886FEB5482F7440BF1E061DBDD92D16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FileLeafRef">
    <vt:lpwstr>Blue and white brand template.potx</vt:lpwstr>
  </property>
</Properties>
</file>