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AZURE CYCLECLOUD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Azure에서 구현하는 엔터프라이즈 HPC · AI 클러스터</a:t>
            </a:r>
          </a:p>
          <a:p>
            <a:pPr>
              <a:defRPr sz="1800">
                <a:solidFill>
                  <a:srgbClr val="C8D7EB"/>
                </a:solidFill>
              </a:defRPr>
            </a:pPr>
            <a:r>
              <a:t>필요할 때 자동으로 확장하고, 쓴 만큼만 지불하는 클라우드 HPC 오케스트레이션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Azure SRE Team | 고객 소개 자료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왜 클라우드 HPC 인가? — 기존 온프레미스의 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EF3EB"/>
          </a:solidFill>
          <a:ln w="19050">
            <a:solidFill>
              <a:srgbClr val="F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E35521"/>
                </a:solidFill>
              </a:defRPr>
            </a:pPr>
            <a:r>
              <a:t>🏢 온프레미스 HPC의 고민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고정된 물리 클러스터 → 피크 수요에 맞춰 과투자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평시에는 값비싼 GPU/CPU 자원이 유휴 상태로 낭비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증설 시 하드웨어 조달·구축에 수 주~수 개월 소요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노후화·유지보수·전력/공간 비용 지속 부담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연구·개발 폭증 시 즉시 대응 불가 (자원 병목)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9F5EC"/>
          </a:solidFill>
          <a:ln w="19050">
            <a:solidFill>
              <a:srgbClr val="9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1E783C"/>
                </a:solidFill>
              </a:defRPr>
            </a:pPr>
            <a:r>
              <a:t>☁️ Azure CycleCloud 로 해결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작업(Job) 수요에 따라 계산 노드를 자동 증설·감설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유휴 시 자동 종료 → 사용한 만큼만 과금(OpEx)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필요한 최신 GPU/CPU SKU를 즉시 선택·확장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익숙한 스케줄러(Slurm 등) 환경을 그대로 클라우드로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인프라 조달 없이 몇 분 만에 클러스터 기동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Azure CycleCloud 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</a:defRPr>
            </a:pPr>
            <a:r>
              <a:t>Azure 환경에서 HPC(고성능 컴퓨팅) 클러스터를 손쉽게 생성·관리하고, 수요에 따라 자동으로 오케스트레이션(증설/감설)하는 엔터프라이즈 관리 서비스입니다.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3474720" cy="3749039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🧩 익숙한 스케줄러 지원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Slurm, OpenPBS, LSF,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HTCondor, Grid Engine 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기존 워크로드·스크립트를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수정 없이 클라우드로 이전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560320"/>
            <a:ext cx="3474720" cy="3749039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📈 지능형 오토스케일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Job 큐 수요를 감지해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VMSS 기반 노드 자동 증설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완료 후 유휴 노드는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자동 감설로 비용 최소화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560320"/>
            <a:ext cx="3566160" cy="3749039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🎛️ 통합 제어 인터페이스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웹 포털 GUI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CLI (cyclecloud / azslurm)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REST API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운영자 친화적 단일 제어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CycleCloud 가 제공하는 핵심 가치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37744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💰 비용 효율 (Pay-as-you-go)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유휴 자원 자동 감설로 과투자 제거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필요한 순간에만 GPU/CPU 확보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Job Accounting 으로 사용량 기반 정산·차지백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237744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⚡ 민첩성 (Agility)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몇 분 만에 클러스터 기동, 즉시 확장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최신 VM SKU·GPU 세대를 바로 채택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템플릿(IaC) 기반 반복 가능한 배포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5303520" cy="246888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🔐 보안 &amp; 거버넌스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Managed Identity 로 시크릿 없는 프로비저닝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VNet·Private Subnet·NSG 기반 격리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RBAC 로 접근 제어 및 감사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394960" cy="246888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🛠️ 운영 편의성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웹 포털 + CLI 통합 관리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cluster-init 로 노드 커스터마이징 표준화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Managed Prometheus/Grafana 모니터링 연계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아키텍처 한눈에 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① 컨트롤 플레인 (Server)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Server VM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웹 포털 GUI (HTTPS 443)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cycle_server 서비스 &amp; CLI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System-assigned Managed Identity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구독 범위 노드 프로비저닝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자격증명/암호 없이 오케스트레이션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② 스케줄러 &amp; 계산 노드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스케줄러 노드 (예: Slurm Master)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워크로드 스케줄링 &amp; 자원 할당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실행(Execute) 노드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VMSS 기반 필요 시 자동 생성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Job 완료 후 유휴 시 자동 감설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공유 저장소 /shared, /sched (NFS)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③ 스토리지 &amp; Locker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Blob Storage (Locker)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클러스터 템플릿 보관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cluster-init 커스텀 스크립트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데이터용 공유 스토리지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Blob NFS / Azure Files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Azure Managed Lustre (고성능)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동작 방식 — 자동확장 라이프사이클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사용자가 작업을 제출하면, CycleCloud 가 큐를 감지해 노드를 자동 생성하고 완료 후 회수합니다.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606040" cy="292608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1. Job 제출</a:t>
            </a:r>
          </a:p>
          <a:p>
            <a:pPr>
              <a:spcBef>
                <a:spcPts val="1000"/>
              </a:spcBef>
              <a:defRPr sz="1200">
                <a:solidFill>
                  <a:srgbClr val="1E1E1E"/>
                </a:solidFill>
              </a:defRPr>
            </a:pPr>
            <a:r>
              <a:t>사용자가 sbatch / srun 으로</a:t>
            </a:r>
            <a:br/>
            <a:r>
              <a:t>Slurm 큐에 작업 등록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377440"/>
            <a:ext cx="2606040" cy="292608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2. 수요 감지 &amp; 증설</a:t>
            </a:r>
          </a:p>
          <a:p>
            <a:pPr>
              <a:spcBef>
                <a:spcPts val="1000"/>
              </a:spcBef>
              <a:defRPr sz="1200">
                <a:solidFill>
                  <a:srgbClr val="1E1E1E"/>
                </a:solidFill>
              </a:defRPr>
            </a:pPr>
            <a:r>
              <a:t>CycleCloud 가 대기 Job 확인</a:t>
            </a:r>
            <a:br/>
            <a:r>
              <a:t>→ 계산 노드 자동 Acquiring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3566160"/>
            <a:ext cx="457200" cy="548640"/>
          </a:xfrm>
          <a:prstGeom prst="rightArrow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2606040" cy="292608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3. 노드 Ready &amp; 실행</a:t>
            </a:r>
          </a:p>
          <a:p>
            <a:pPr>
              <a:spcBef>
                <a:spcPts val="1000"/>
              </a:spcBef>
              <a:defRPr sz="1200">
                <a:solidFill>
                  <a:srgbClr val="1E1E1E"/>
                </a:solidFill>
              </a:defRPr>
            </a:pPr>
            <a:r>
              <a:t>Off→Acquiring→Preparing→Ready</a:t>
            </a:r>
            <a:br/>
            <a:r>
              <a:t>cluster-init 적용 후 Job 실행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15000" y="3566160"/>
            <a:ext cx="457200" cy="548640"/>
          </a:xfrm>
          <a:prstGeom prst="rightArrow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0" y="2377440"/>
            <a:ext cx="2606040" cy="292608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4. 완료 &amp; 자동 감설</a:t>
            </a:r>
          </a:p>
          <a:p>
            <a:pPr>
              <a:spcBef>
                <a:spcPts val="1000"/>
              </a:spcBef>
              <a:defRPr sz="1200">
                <a:solidFill>
                  <a:srgbClr val="1E1E1E"/>
                </a:solidFill>
              </a:defRPr>
            </a:pPr>
            <a:r>
              <a:t>작업 완료·유휴 감지</a:t>
            </a:r>
            <a:br/>
            <a:r>
              <a:t>→ 노드 자동 종료(비용 절감)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49640" y="3566160"/>
            <a:ext cx="457200" cy="548640"/>
          </a:xfrm>
          <a:prstGeom prst="rightArrow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783C"/>
                </a:solidFill>
              </a:defRPr>
            </a:pPr>
            <a:r>
              <a:t>핵심: 필요한 만큼만 켜지고, 끝나면 꺼진다 → 성능과 비용을 동시에 최적화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표준 스케줄러 환경 그대로 — Slurm 예시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⚡ 사용자에게 익숙한 명령 그대로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sinfo : 파티션·노드 상태 조회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squeue : 큐의 Job 상태 및 대기 사유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sbatch &lt;script&gt; : 배치 작업 제출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srun &lt;cmd&gt; : 자원 할당받아 즉시 실행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sacct : 완료 작업 이력·자원 사용량 조회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기존 HPC 워크플로 학습비용 최소화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🛠️ 운영자용 CycleCloud 제어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show_cluster : 클러스터 상태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start/terminate_cluster : 제어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project upload : cluster-init 배포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azslurm resume/suspend : 수동 노드 제어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azslurm scale : 변경분 무중단 반영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GUI·CLI·API 어디서든 동일 제어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데이터 · 스토리지 유연한 연계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📁 공유 파일 시스템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/shared, /sched (NFS)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모든 노드가 공유하는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홈·스케줄러 저장소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Files / Blob NFS 연동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🚀 고성능 병렬 스토리지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Managed Lustre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대용량·초고속 병렬 I/O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AI 학습·시뮬레이션 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I/O 집약 워크로드에 최적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📦 오브젝트 스토리지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Blob Storage (Locker)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클러스터 구성·템플릿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cluster-init 스크립트 보관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데이터 레이크 연계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운영 가시성 — 비용 정산 &amp; 모니터링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📊 Job Accounting (비용 가시성)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Job별 CPU/GPU/메모리 사용량 영구 기록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Database for MySQL 연동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sacct·sreport 로 유저·프로젝트별 정산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부서·과제 단위 차지백(chargeback) 기반 마련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azslurm cost 로 작업별 비용 리포트(실험적)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9F5EC"/>
          </a:solidFill>
          <a:ln w="19050">
            <a:solidFill>
              <a:srgbClr val="9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1E783C"/>
                </a:solidFill>
              </a:defRPr>
            </a:pPr>
            <a:r>
              <a:t>📈 GPU / 인프라 모니터링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Node Exporter → Prometheus 메트릭 수집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Managed Prometheus (remote_write)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Managed Grafana 대시보드 시각화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실시간 GPU 사용률·메모리·온도 감시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DCGM 기반 GPU 상세 지표 지원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보안 · 거버넌스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🔑 자격증명 없는 운영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System-assigned Managed Identity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시크릿·암호 저장 없이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리소스 프로비저닝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키 유출 위험 최소화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🌐 네트워크 격리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전용 VNet / Subnet 배치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NSG 로 포트·트래픽 제어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Private Endpoint 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스토리지·DB 비공개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👥 접근 제어 &amp; 사용자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RBAC 기반 권한 관리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사용자 관리: Built-in /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Active Directory / LDAP / Entra ID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SSH Keypair·sudo 정책 제어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고객 소개 자료 (CUSTOMER INTRODUCTION)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활용 사례 &amp; 다음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🎯 주요 활용 사례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AI/ML 대규모 분산 학습 (GPU 클러스터)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CAE·CFD 시뮬레이션 및 렌더링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유전체·생명과학 등 연구 컴퓨팅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금융 리스크·몬테카를로 시뮬레이션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NGC 컨테이너 기반 가속 워크로드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9F5EC"/>
          </a:solidFill>
          <a:ln w="19050">
            <a:solidFill>
              <a:srgbClr val="9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1E783C"/>
                </a:solidFill>
              </a:defRPr>
            </a:pPr>
            <a:r>
              <a:t>🚀 도입 여정 (Next Steps)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1. 워크로드·스케줄러 요건 진단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2. Azure 구독·네트워크·쿼터 준비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3. CycleCloud 서버 및 클러스터 PoC 구축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4. cluster-init·모니터링·정산 체계 구성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5. 운영 이관 및 MSP 지원 체계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상세 구축·운영 절차는 'Azure CycleCloud MSP 운영 매뉴얼(12개 모듈)'을 참고하십시오.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